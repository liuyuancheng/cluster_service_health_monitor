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D4A"/>
    <a:srgbClr val="0C3A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9F5A2-FB33-43AA-9FB4-F58392D514B0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96D9A-D7DA-4E78-940A-EAFDA1F803B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5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96D9A-D7DA-4E78-940A-EAFDA1F803BC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364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96D9A-D7DA-4E78-940A-EAFDA1F803BC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89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EE68-0298-3653-D7C0-02927026E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8FEDE-8D3E-E7C9-9CE9-936340922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9262A-B417-EBC9-29D0-FD29E80B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7631D-5CD2-8F8F-6B29-FEEDBDA8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181C7-4EAF-33C2-AB3F-929C6507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695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4B36-63DC-CB41-88F0-2BEAB03F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D157D-0615-7CDB-AE10-9E2F6CD5F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478CE-ED25-6843-D265-DAF0076D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98E9-E9E3-6242-070C-07F045A6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96BE-7E54-20E6-530B-9BF6494B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16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B998-485F-7367-26F8-B85AB21BD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79ED0-409F-F911-727C-B09305CF6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5F23E-BA5E-EE39-E498-50A48B4E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D7E97-813A-B496-3591-7BBEF6EA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ED62-1842-8D25-CD50-D907441B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33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C348-FD59-5BD6-0893-FE4C6F45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5FA17-5E61-2A07-B627-7764C8AD9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05B4F-E7E1-9E39-1DAB-28BCF7ED8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EB361-2708-FC7A-CFF3-E41CB586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A2B9-B791-37D4-0263-6C4A40D6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77118-BB83-A2F5-A7F5-7C400442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556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3EF8-F69C-FA88-3C5A-D7BE36FB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8C673-C5BC-128C-2568-61F489845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25D03-4F0E-7BF8-D7FC-179BA6CDE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09644-6130-AAA3-7AD5-AD008A718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5A0ED-6879-0ADE-4068-171CB22CE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EFCA83-9F71-2140-B57B-334FC2D3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0F7DE-0623-2C52-E370-B141D3FE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EEDE5-E4B7-EB15-D053-034B066A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029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9139-0C74-368E-9539-557A83FB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3103BC-06E8-ACAA-F19E-2251B050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104D6-E3DE-D697-29EA-8C66ADB8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CD859-1333-84F9-5512-553E18B3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697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7B544-1ED0-6409-7EBE-EB028F49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FD878-7015-2BC9-C034-7B8E8386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CC5E5-F42D-C5D9-25DB-E668E234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059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4F7F-8B27-B0F6-8C50-512A48F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34CE-8A64-96E9-D44A-38925FDB4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D4252-808B-F89B-1F9D-C61FBC0F3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D583E-ED92-89FB-BA81-9CCC6E984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948C-7363-7AEA-178A-05A9BEC8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5CB0-7A39-3C64-BC2F-B3622521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277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76B8-C30D-FF78-0AD6-6D6D232E9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ADA10-AEE9-AD8F-01C4-B45E95344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0B042-49B0-A2A9-8EE4-21CC7EBA3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47018-21C4-897C-599E-A9BFB920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E53FC-7809-CF12-AA73-46B932E1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2F411-4806-BE8B-F914-A223334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355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31D3-6B98-6301-99A5-09140BE1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5BC80-096E-1ABB-1B76-CCE98858D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FD049-4BB5-99FC-2352-2F8B68E8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44F6E-2042-0E1B-BBE0-6B51FE0E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CECE6-B96C-8FE4-6CEB-1C683F2F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815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8FBA0C-0493-3A6B-5376-8B4CE7416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D4AB1-8DEF-DA80-82F3-51E84F3B5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88D02-9917-2CBE-57C1-45D9750C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DF01-FA84-7896-1E2C-F34BCE15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5606-7EC7-8F9F-5880-313EDD049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724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5706D-5131-7F6C-E573-96503D81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A22D2-61DC-6C20-9600-2E02E9F87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54B9F-1983-E939-462A-B1E2C1E4F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12AF-1699-436B-92E4-CBB1E278C05C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FEF3C-CD0C-3952-E5C6-CA0D1CCA0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AC573-0E6B-7C6F-4F2B-4A611B500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D9690-38B8-4649-BF21-5F286615B8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885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892620-2A7D-BDAD-80C4-D28655F98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37"/>
          <a:stretch>
            <a:fillRect/>
          </a:stretch>
        </p:blipFill>
        <p:spPr>
          <a:xfrm>
            <a:off x="926951" y="793376"/>
            <a:ext cx="4572000" cy="5271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DC92D8-DEF6-4777-1E08-228670E5FF09}"/>
              </a:ext>
            </a:extLst>
          </p:cNvPr>
          <p:cNvSpPr txBox="1"/>
          <p:nvPr/>
        </p:nvSpPr>
        <p:spPr>
          <a:xfrm>
            <a:off x="5498951" y="814891"/>
            <a:ext cx="5925670" cy="52497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Used by the </a:t>
            </a:r>
            <a:r>
              <a:rPr lang="en-US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Black/Judgment-Team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/>
              <a:t>to monitor the whole exercise progress, each teams’ state/score, the availability of the resource and the defense progress.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Used by the </a:t>
            </a:r>
            <a:r>
              <a:rPr lang="en-US" sz="1600" b="1" dirty="0">
                <a:solidFill>
                  <a:schemeClr val="bg1"/>
                </a:solidFill>
                <a:highlight>
                  <a:srgbClr val="008000"/>
                </a:highlight>
              </a:rPr>
              <a:t>Green-Team</a:t>
            </a:r>
            <a:r>
              <a:rPr lang="en-US" sz="1600" b="1" dirty="0"/>
              <a:t> to prepare, test and do debug work for building and supporting the exercise environment.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Used by the </a:t>
            </a:r>
            <a:r>
              <a:rPr lang="en-US" sz="1600" b="1" dirty="0">
                <a:solidFill>
                  <a:schemeClr val="bg1"/>
                </a:solidFill>
                <a:highlight>
                  <a:srgbClr val="000080"/>
                </a:highlight>
              </a:rPr>
              <a:t>Blue-Team</a:t>
            </a:r>
            <a:r>
              <a:rPr lang="en-US" sz="1600" b="1" dirty="0"/>
              <a:t> to check and monitor the real time state of the exercise environment they are working 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Used by the </a:t>
            </a:r>
            <a:r>
              <a:rPr lang="en-US" sz="1600" b="1" dirty="0">
                <a:solidFill>
                  <a:schemeClr val="bg1"/>
                </a:solidFill>
                <a:highlight>
                  <a:srgbClr val="FF0000"/>
                </a:highlight>
              </a:rPr>
              <a:t>Red-Team</a:t>
            </a:r>
            <a:r>
              <a:rPr lang="en-US" sz="1600" b="1" dirty="0"/>
              <a:t> to report the attack state to judgement team and check the attack influence.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Used by the </a:t>
            </a:r>
            <a:r>
              <a:rPr lang="en-US" sz="1600" b="1" dirty="0">
                <a:highlight>
                  <a:srgbClr val="FFFF00"/>
                </a:highlight>
              </a:rPr>
              <a:t>Yellow-Team</a:t>
            </a:r>
            <a:r>
              <a:rPr lang="en-US" sz="1600" b="1" dirty="0"/>
              <a:t> to simulate the behavior of normal users.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Used by the </a:t>
            </a:r>
            <a:r>
              <a:rPr lang="en-US" sz="1600" b="1" dirty="0">
                <a:solidFill>
                  <a:schemeClr val="bg1"/>
                </a:solidFill>
                <a:highlight>
                  <a:srgbClr val="800080"/>
                </a:highlight>
              </a:rPr>
              <a:t>Purple-Team</a:t>
            </a:r>
            <a:r>
              <a:rPr lang="en-US" sz="1600" b="1" dirty="0"/>
              <a:t> to record the cyber exercise event timeline and archive the event logs.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Auto detect and record the red team attack and defense action.</a:t>
            </a:r>
          </a:p>
        </p:txBody>
      </p:sp>
    </p:spTree>
    <p:extLst>
      <p:ext uri="{BB962C8B-B14F-4D97-AF65-F5344CB8AC3E}">
        <p14:creationId xmlns:p14="http://schemas.microsoft.com/office/powerpoint/2010/main" val="345425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B8E28D-3CA4-E5A0-642B-6D6CBF1B4EFB}"/>
              </a:ext>
            </a:extLst>
          </p:cNvPr>
          <p:cNvSpPr/>
          <p:nvPr/>
        </p:nvSpPr>
        <p:spPr>
          <a:xfrm>
            <a:off x="311975" y="294927"/>
            <a:ext cx="11546862" cy="6396329"/>
          </a:xfrm>
          <a:prstGeom prst="rect">
            <a:avLst/>
          </a:prstGeom>
          <a:solidFill>
            <a:srgbClr val="182D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2C907-12EB-B2CF-9EC7-748176D3D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96" y="920909"/>
            <a:ext cx="7487642" cy="4084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D6C8CF-12EB-49B0-8CEB-E3656E385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859" y="920909"/>
            <a:ext cx="3232776" cy="173761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B5DE534F-7A6B-6BD0-8DB2-89223E372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859" y="4763147"/>
            <a:ext cx="3232776" cy="1799926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998F10-8977-BAB0-9C9F-ABAEC2E20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6" y="5311108"/>
            <a:ext cx="3819284" cy="12519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CAB02A-44D4-7B53-BE1D-4C894861C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951" y="5311107"/>
            <a:ext cx="3764581" cy="1227281"/>
          </a:xfrm>
          <a:prstGeom prst="rect">
            <a:avLst/>
          </a:prstGeom>
        </p:spPr>
      </p:pic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3D7D5765-1FF0-1829-F40D-D8699EF091CD}"/>
              </a:ext>
            </a:extLst>
          </p:cNvPr>
          <p:cNvSpPr/>
          <p:nvPr/>
        </p:nvSpPr>
        <p:spPr>
          <a:xfrm>
            <a:off x="1140312" y="5005078"/>
            <a:ext cx="150607" cy="306029"/>
          </a:xfrm>
          <a:prstGeom prst="up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45EDAFF5-F83F-9E64-E3DB-2ABA923FA0DF}"/>
              </a:ext>
            </a:extLst>
          </p:cNvPr>
          <p:cNvSpPr/>
          <p:nvPr/>
        </p:nvSpPr>
        <p:spPr>
          <a:xfrm>
            <a:off x="2363915" y="5005078"/>
            <a:ext cx="150607" cy="306029"/>
          </a:xfrm>
          <a:prstGeom prst="up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Up-Down 17">
            <a:extLst>
              <a:ext uri="{FF2B5EF4-FFF2-40B4-BE49-F238E27FC236}">
                <a16:creationId xmlns:a16="http://schemas.microsoft.com/office/drawing/2014/main" id="{A5C2D29D-8ABE-01F0-4188-8501BD4DBC17}"/>
              </a:ext>
            </a:extLst>
          </p:cNvPr>
          <p:cNvSpPr/>
          <p:nvPr/>
        </p:nvSpPr>
        <p:spPr>
          <a:xfrm>
            <a:off x="3678141" y="5005078"/>
            <a:ext cx="150607" cy="306029"/>
          </a:xfrm>
          <a:prstGeom prst="upDownArrow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895CF4B2-C0C6-B811-FF63-9124FBC0F0B0}"/>
              </a:ext>
            </a:extLst>
          </p:cNvPr>
          <p:cNvSpPr/>
          <p:nvPr/>
        </p:nvSpPr>
        <p:spPr>
          <a:xfrm>
            <a:off x="4992367" y="5005077"/>
            <a:ext cx="150607" cy="306029"/>
          </a:xfrm>
          <a:prstGeom prst="up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85D8ECF9-F847-B5AE-3247-A19D7DF970B2}"/>
              </a:ext>
            </a:extLst>
          </p:cNvPr>
          <p:cNvSpPr/>
          <p:nvPr/>
        </p:nvSpPr>
        <p:spPr>
          <a:xfrm>
            <a:off x="6231289" y="5005076"/>
            <a:ext cx="150607" cy="306029"/>
          </a:xfrm>
          <a:prstGeom prst="upDown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1AA955E1-A8AC-A729-C255-2F2C54E0FFF5}"/>
              </a:ext>
            </a:extLst>
          </p:cNvPr>
          <p:cNvSpPr/>
          <p:nvPr/>
        </p:nvSpPr>
        <p:spPr>
          <a:xfrm>
            <a:off x="7454892" y="5002359"/>
            <a:ext cx="150607" cy="306029"/>
          </a:xfrm>
          <a:prstGeom prst="upDownArrow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5706A6-AEA2-F84F-56D3-E60E6C500F20}"/>
              </a:ext>
            </a:extLst>
          </p:cNvPr>
          <p:cNvSpPr txBox="1"/>
          <p:nvPr/>
        </p:nvSpPr>
        <p:spPr>
          <a:xfrm>
            <a:off x="505291" y="294927"/>
            <a:ext cx="10822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Cyber Exercise Service and Resource Health Monitor System</a:t>
            </a:r>
            <a:endParaRPr lang="en-SG" sz="2800" b="1" dirty="0">
              <a:solidFill>
                <a:schemeClr val="bg1"/>
              </a:solidFill>
            </a:endParaRPr>
          </a:p>
        </p:txBody>
      </p:sp>
      <p:pic>
        <p:nvPicPr>
          <p:cNvPr id="24" name="Picture 2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D931273-40E9-D901-EAC1-55A26FA5FE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860" y="2810873"/>
            <a:ext cx="3232776" cy="179992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3395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4E82B5E4-07AF-7068-5823-87791F31B149}"/>
              </a:ext>
            </a:extLst>
          </p:cNvPr>
          <p:cNvSpPr/>
          <p:nvPr/>
        </p:nvSpPr>
        <p:spPr>
          <a:xfrm>
            <a:off x="1075174" y="2120204"/>
            <a:ext cx="6702250" cy="42396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599061-FD6D-E1A7-2C65-6FE39DF6B75A}"/>
              </a:ext>
            </a:extLst>
          </p:cNvPr>
          <p:cNvSpPr/>
          <p:nvPr/>
        </p:nvSpPr>
        <p:spPr>
          <a:xfrm>
            <a:off x="3088533" y="2255855"/>
            <a:ext cx="4365578" cy="2348016"/>
          </a:xfrm>
          <a:prstGeom prst="rect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92E2E-563A-F8C4-E579-81AAA3B59D0E}"/>
              </a:ext>
            </a:extLst>
          </p:cNvPr>
          <p:cNvSpPr/>
          <p:nvPr/>
        </p:nvSpPr>
        <p:spPr>
          <a:xfrm>
            <a:off x="1266850" y="2255855"/>
            <a:ext cx="1446963" cy="38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Prober Agent </a:t>
            </a:r>
            <a:endParaRPr lang="en-SG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CA713F-A113-B76C-8C6D-99FC3284BB63}"/>
              </a:ext>
            </a:extLst>
          </p:cNvPr>
          <p:cNvSpPr/>
          <p:nvPr/>
        </p:nvSpPr>
        <p:spPr>
          <a:xfrm>
            <a:off x="4431323" y="572759"/>
            <a:ext cx="4170065" cy="1306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281419-A8AD-A68D-6D1A-CA369DF681F3}"/>
              </a:ext>
            </a:extLst>
          </p:cNvPr>
          <p:cNvSpPr/>
          <p:nvPr/>
        </p:nvSpPr>
        <p:spPr>
          <a:xfrm>
            <a:off x="4543529" y="879232"/>
            <a:ext cx="1274467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NTP time fetch</a:t>
            </a:r>
            <a:endParaRPr lang="en-SG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57D2DE-E44D-6C0A-61B3-D542D104071C}"/>
              </a:ext>
            </a:extLst>
          </p:cNvPr>
          <p:cNvSpPr/>
          <p:nvPr/>
        </p:nvSpPr>
        <p:spPr>
          <a:xfrm>
            <a:off x="5979606" y="879232"/>
            <a:ext cx="57191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ping</a:t>
            </a:r>
            <a:endParaRPr lang="en-SG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99FDEE-4894-BC1A-8AC4-A09D655DB7C9}"/>
              </a:ext>
            </a:extLst>
          </p:cNvPr>
          <p:cNvSpPr/>
          <p:nvPr/>
        </p:nvSpPr>
        <p:spPr>
          <a:xfrm>
            <a:off x="6713135" y="879232"/>
            <a:ext cx="57191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FTP</a:t>
            </a:r>
            <a:endParaRPr lang="en-SG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60CD1-011C-DF92-4EE9-AF0336D05767}"/>
              </a:ext>
            </a:extLst>
          </p:cNvPr>
          <p:cNvSpPr/>
          <p:nvPr/>
        </p:nvSpPr>
        <p:spPr>
          <a:xfrm>
            <a:off x="7622530" y="879232"/>
            <a:ext cx="818105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NMAP</a:t>
            </a:r>
            <a:endParaRPr lang="en-SG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41933-3369-9DAA-D432-CF39EF1224D0}"/>
              </a:ext>
            </a:extLst>
          </p:cNvPr>
          <p:cNvSpPr txBox="1"/>
          <p:nvPr/>
        </p:nvSpPr>
        <p:spPr>
          <a:xfrm>
            <a:off x="7322344" y="910613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50F18-FE39-5E1D-C734-D52E601AC876}"/>
              </a:ext>
            </a:extLst>
          </p:cNvPr>
          <p:cNvSpPr/>
          <p:nvPr/>
        </p:nvSpPr>
        <p:spPr>
          <a:xfrm>
            <a:off x="4543529" y="1436078"/>
            <a:ext cx="818105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http curl</a:t>
            </a:r>
            <a:endParaRPr lang="en-SG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6B7D2-DEF8-16BB-1E15-8FEF8B735E1E}"/>
              </a:ext>
            </a:extLst>
          </p:cNvPr>
          <p:cNvSpPr/>
          <p:nvPr/>
        </p:nvSpPr>
        <p:spPr>
          <a:xfrm>
            <a:off x="5492678" y="1436078"/>
            <a:ext cx="973856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https curl</a:t>
            </a:r>
            <a:endParaRPr lang="en-SG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B5A5E1-7BB4-D87D-AC1A-48E6CB3ED30C}"/>
              </a:ext>
            </a:extLst>
          </p:cNvPr>
          <p:cNvSpPr/>
          <p:nvPr/>
        </p:nvSpPr>
        <p:spPr>
          <a:xfrm>
            <a:off x="6845652" y="1411807"/>
            <a:ext cx="57191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ssh</a:t>
            </a:r>
            <a:endParaRPr lang="en-SG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6EEF9B-853D-F9BE-436C-246B4DF2E639}"/>
              </a:ext>
            </a:extLst>
          </p:cNvPr>
          <p:cNvSpPr txBox="1"/>
          <p:nvPr/>
        </p:nvSpPr>
        <p:spPr>
          <a:xfrm>
            <a:off x="6498180" y="1433121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…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B2076E-46A1-59A8-1E54-4E355DC96593}"/>
              </a:ext>
            </a:extLst>
          </p:cNvPr>
          <p:cNvCxnSpPr>
            <a:stCxn id="6" idx="2"/>
          </p:cNvCxnSpPr>
          <p:nvPr/>
        </p:nvCxnSpPr>
        <p:spPr>
          <a:xfrm flipH="1">
            <a:off x="5180762" y="1195756"/>
            <a:ext cx="1" cy="130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3B95B4-64CF-0B6C-A5D9-D072B3A1457A}"/>
              </a:ext>
            </a:extLst>
          </p:cNvPr>
          <p:cNvCxnSpPr/>
          <p:nvPr/>
        </p:nvCxnSpPr>
        <p:spPr>
          <a:xfrm flipH="1">
            <a:off x="5492678" y="1195756"/>
            <a:ext cx="772887" cy="130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867838-E64E-EA5C-BA62-25C070F28F46}"/>
              </a:ext>
            </a:extLst>
          </p:cNvPr>
          <p:cNvCxnSpPr>
            <a:stCxn id="9" idx="2"/>
          </p:cNvCxnSpPr>
          <p:nvPr/>
        </p:nvCxnSpPr>
        <p:spPr>
          <a:xfrm flipH="1">
            <a:off x="5879121" y="1195756"/>
            <a:ext cx="2152462" cy="1286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0A637ED-B5A5-B303-A4AE-2A4803520D74}"/>
              </a:ext>
            </a:extLst>
          </p:cNvPr>
          <p:cNvSpPr/>
          <p:nvPr/>
        </p:nvSpPr>
        <p:spPr>
          <a:xfrm>
            <a:off x="4771709" y="2547260"/>
            <a:ext cx="2032005" cy="316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NTP service probe action</a:t>
            </a:r>
            <a:endParaRPr lang="en-SG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489C62-C3B7-9328-DFD7-90560C2A4C12}"/>
              </a:ext>
            </a:extLst>
          </p:cNvPr>
          <p:cNvCxnSpPr/>
          <p:nvPr/>
        </p:nvCxnSpPr>
        <p:spPr>
          <a:xfrm>
            <a:off x="4672484" y="1752602"/>
            <a:ext cx="0" cy="1623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45B563-BE69-8620-A05E-B6260D12991C}"/>
              </a:ext>
            </a:extLst>
          </p:cNvPr>
          <p:cNvCxnSpPr/>
          <p:nvPr/>
        </p:nvCxnSpPr>
        <p:spPr>
          <a:xfrm flipH="1">
            <a:off x="5361634" y="1195756"/>
            <a:ext cx="903931" cy="208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7B0F537-2124-BF52-B676-DC0295123C93}"/>
              </a:ext>
            </a:extLst>
          </p:cNvPr>
          <p:cNvCxnSpPr>
            <a:cxnSpLocks/>
          </p:cNvCxnSpPr>
          <p:nvPr/>
        </p:nvCxnSpPr>
        <p:spPr>
          <a:xfrm flipH="1">
            <a:off x="6249039" y="1195755"/>
            <a:ext cx="1814190" cy="2180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DBFF9A7-A29A-1B98-E506-35E3323417D1}"/>
              </a:ext>
            </a:extLst>
          </p:cNvPr>
          <p:cNvSpPr/>
          <p:nvPr/>
        </p:nvSpPr>
        <p:spPr>
          <a:xfrm>
            <a:off x="4629443" y="3417671"/>
            <a:ext cx="2344112" cy="316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 service probe action</a:t>
            </a:r>
            <a:endParaRPr lang="en-SG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443446-6CE7-9615-6C25-426C6D12BFBE}"/>
              </a:ext>
            </a:extLst>
          </p:cNvPr>
          <p:cNvSpPr txBox="1"/>
          <p:nvPr/>
        </p:nvSpPr>
        <p:spPr>
          <a:xfrm>
            <a:off x="4466171" y="544788"/>
            <a:ext cx="2724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Network service Probe function repo</a:t>
            </a:r>
            <a:endParaRPr lang="en-SG" sz="12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6454B0-8729-3820-DD08-CD7D47D2E994}"/>
              </a:ext>
            </a:extLst>
          </p:cNvPr>
          <p:cNvSpPr/>
          <p:nvPr/>
        </p:nvSpPr>
        <p:spPr>
          <a:xfrm>
            <a:off x="8858701" y="594990"/>
            <a:ext cx="3089065" cy="1306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EB95F3-F6EB-7FFA-A7E1-8B6DCA678B8D}"/>
              </a:ext>
            </a:extLst>
          </p:cNvPr>
          <p:cNvSpPr txBox="1"/>
          <p:nvPr/>
        </p:nvSpPr>
        <p:spPr>
          <a:xfrm>
            <a:off x="8948860" y="544788"/>
            <a:ext cx="2337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Local service Probe function repo </a:t>
            </a:r>
            <a:endParaRPr lang="en-SG" sz="12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C6D793-B671-971F-8930-E16204BFFC1A}"/>
              </a:ext>
            </a:extLst>
          </p:cNvPr>
          <p:cNvSpPr/>
          <p:nvPr/>
        </p:nvSpPr>
        <p:spPr>
          <a:xfrm>
            <a:off x="9121282" y="882359"/>
            <a:ext cx="57191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CPU</a:t>
            </a:r>
            <a:endParaRPr lang="en-SG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DF0705-65C1-B8D1-0F5D-D2A2CB265B22}"/>
              </a:ext>
            </a:extLst>
          </p:cNvPr>
          <p:cNvSpPr/>
          <p:nvPr/>
        </p:nvSpPr>
        <p:spPr>
          <a:xfrm>
            <a:off x="9865623" y="882359"/>
            <a:ext cx="57191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RAM</a:t>
            </a:r>
            <a:endParaRPr lang="en-SG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169258-68CD-5701-E244-2D790A33513C}"/>
              </a:ext>
            </a:extLst>
          </p:cNvPr>
          <p:cNvSpPr/>
          <p:nvPr/>
        </p:nvSpPr>
        <p:spPr>
          <a:xfrm>
            <a:off x="10583312" y="875630"/>
            <a:ext cx="57191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File</a:t>
            </a:r>
            <a:endParaRPr lang="en-SG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63466B-0AAF-B8B7-79F6-3482841443C1}"/>
              </a:ext>
            </a:extLst>
          </p:cNvPr>
          <p:cNvSpPr/>
          <p:nvPr/>
        </p:nvSpPr>
        <p:spPr>
          <a:xfrm>
            <a:off x="11286404" y="882359"/>
            <a:ext cx="57191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File</a:t>
            </a:r>
            <a:endParaRPr lang="en-SG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EC0305-742E-5E92-5B60-64D33EBE8CA7}"/>
              </a:ext>
            </a:extLst>
          </p:cNvPr>
          <p:cNvSpPr/>
          <p:nvPr/>
        </p:nvSpPr>
        <p:spPr>
          <a:xfrm>
            <a:off x="9051827" y="1380702"/>
            <a:ext cx="896785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 </a:t>
            </a:r>
            <a:endParaRPr lang="en-SG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1B9AD0-4DAD-904E-7250-F7919C29401A}"/>
              </a:ext>
            </a:extLst>
          </p:cNvPr>
          <p:cNvSpPr/>
          <p:nvPr/>
        </p:nvSpPr>
        <p:spPr>
          <a:xfrm>
            <a:off x="10110431" y="1380702"/>
            <a:ext cx="673637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 </a:t>
            </a:r>
            <a:endParaRPr lang="en-SG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3CAD76-F6C0-D0A8-1852-1FBD636387D6}"/>
              </a:ext>
            </a:extLst>
          </p:cNvPr>
          <p:cNvSpPr/>
          <p:nvPr/>
        </p:nvSpPr>
        <p:spPr>
          <a:xfrm>
            <a:off x="10993184" y="1380702"/>
            <a:ext cx="851753" cy="3393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System time   </a:t>
            </a:r>
            <a:endParaRPr lang="en-SG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C3D678-E612-52D0-415E-B18622FF1207}"/>
              </a:ext>
            </a:extLst>
          </p:cNvPr>
          <p:cNvSpPr txBox="1"/>
          <p:nvPr/>
        </p:nvSpPr>
        <p:spPr>
          <a:xfrm>
            <a:off x="5534866" y="3588939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…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CBEA27-944D-1CEE-722A-CA3F2CB3C34D}"/>
              </a:ext>
            </a:extLst>
          </p:cNvPr>
          <p:cNvSpPr/>
          <p:nvPr/>
        </p:nvSpPr>
        <p:spPr>
          <a:xfrm>
            <a:off x="4641543" y="4131214"/>
            <a:ext cx="2344112" cy="3165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Email service probe action</a:t>
            </a:r>
            <a:endParaRPr lang="en-SG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DD5E9F4-D16D-B33A-DD26-E2E00B854C00}"/>
              </a:ext>
            </a:extLst>
          </p:cNvPr>
          <p:cNvSpPr/>
          <p:nvPr/>
        </p:nvSpPr>
        <p:spPr>
          <a:xfrm>
            <a:off x="7622312" y="1421233"/>
            <a:ext cx="788389" cy="3165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SMTP</a:t>
            </a:r>
            <a:endParaRPr lang="en-SG" sz="14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B0A7C23-87DA-69A4-694F-581C7BA06FF0}"/>
              </a:ext>
            </a:extLst>
          </p:cNvPr>
          <p:cNvCxnSpPr/>
          <p:nvPr/>
        </p:nvCxnSpPr>
        <p:spPr>
          <a:xfrm flipH="1">
            <a:off x="6803714" y="1752602"/>
            <a:ext cx="1227869" cy="2378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3C986BD-54AB-D32D-BBB9-BE89EA7C9215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597578" y="1728331"/>
            <a:ext cx="534034" cy="2378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E7B1DB6-B03F-286E-D611-59D75808F43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833448" y="1752602"/>
            <a:ext cx="146158" cy="235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678D1AD-6AC1-13F6-A87C-4F7B780E370D}"/>
              </a:ext>
            </a:extLst>
          </p:cNvPr>
          <p:cNvSpPr txBox="1"/>
          <p:nvPr/>
        </p:nvSpPr>
        <p:spPr>
          <a:xfrm>
            <a:off x="3244571" y="2967990"/>
            <a:ext cx="90895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Target IP</a:t>
            </a:r>
            <a:endParaRPr lang="en-SG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E899E3-2B5E-ECE0-D37C-D0649296BFE2}"/>
              </a:ext>
            </a:extLst>
          </p:cNvPr>
          <p:cNvSpPr txBox="1"/>
          <p:nvPr/>
        </p:nvSpPr>
        <p:spPr>
          <a:xfrm>
            <a:off x="3218951" y="3435051"/>
            <a:ext cx="124721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Prober config profile</a:t>
            </a:r>
            <a:endParaRPr lang="en-SG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D9E224-6DF1-A01C-E9AF-10D675DAC6FE}"/>
              </a:ext>
            </a:extLst>
          </p:cNvPr>
          <p:cNvSpPr txBox="1"/>
          <p:nvPr/>
        </p:nvSpPr>
        <p:spPr>
          <a:xfrm>
            <a:off x="3088533" y="2235760"/>
            <a:ext cx="97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Prober</a:t>
            </a:r>
            <a:r>
              <a:rPr lang="en-US" sz="1400" dirty="0"/>
              <a:t> </a:t>
            </a:r>
            <a:endParaRPr lang="en-SG" sz="1400" dirty="0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52FE5EA9-8A51-A854-F11F-8BEFB98E2672}"/>
              </a:ext>
            </a:extLst>
          </p:cNvPr>
          <p:cNvSpPr/>
          <p:nvPr/>
        </p:nvSpPr>
        <p:spPr>
          <a:xfrm>
            <a:off x="7496080" y="3275765"/>
            <a:ext cx="2222390" cy="159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2E183C-4E34-F5B7-6A40-A8F41421FF0B}"/>
              </a:ext>
            </a:extLst>
          </p:cNvPr>
          <p:cNvSpPr/>
          <p:nvPr/>
        </p:nvSpPr>
        <p:spPr>
          <a:xfrm>
            <a:off x="3088533" y="4944662"/>
            <a:ext cx="4365578" cy="354118"/>
          </a:xfrm>
          <a:prstGeom prst="rect">
            <a:avLst/>
          </a:prstGeom>
          <a:ln w="28575">
            <a:solidFill>
              <a:srgbClr val="0070C0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6871B3-1338-5771-2EF5-D23BCA2372C1}"/>
              </a:ext>
            </a:extLst>
          </p:cNvPr>
          <p:cNvSpPr txBox="1"/>
          <p:nvPr/>
        </p:nvSpPr>
        <p:spPr>
          <a:xfrm>
            <a:off x="5187394" y="4525944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…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B7CC534-6C0B-F50A-AEE5-F81E952E95D5}"/>
              </a:ext>
            </a:extLst>
          </p:cNvPr>
          <p:cNvSpPr txBox="1"/>
          <p:nvPr/>
        </p:nvSpPr>
        <p:spPr>
          <a:xfrm>
            <a:off x="3091446" y="4952444"/>
            <a:ext cx="1771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Probers</a:t>
            </a:r>
            <a:r>
              <a:rPr lang="en-US" sz="1400" dirty="0"/>
              <a:t> </a:t>
            </a:r>
            <a:endParaRPr lang="en-SG" sz="1400" dirty="0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E06BCA21-745E-A088-AEA0-26EAB835CC68}"/>
              </a:ext>
            </a:extLst>
          </p:cNvPr>
          <p:cNvSpPr/>
          <p:nvPr/>
        </p:nvSpPr>
        <p:spPr>
          <a:xfrm>
            <a:off x="7517923" y="5019154"/>
            <a:ext cx="2200547" cy="159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BECD5DD0-2D31-F6E3-1063-4C9EE0A07792}"/>
              </a:ext>
            </a:extLst>
          </p:cNvPr>
          <p:cNvSpPr/>
          <p:nvPr/>
        </p:nvSpPr>
        <p:spPr>
          <a:xfrm>
            <a:off x="7496080" y="4949140"/>
            <a:ext cx="1987686" cy="159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4BF1788-9B52-EB57-1795-844AB8A60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628" y="3125357"/>
            <a:ext cx="585606" cy="4284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8C7BFC3-8536-DDFE-D598-A15EB732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623" y="4834208"/>
            <a:ext cx="585606" cy="4284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F21CE164-8006-C42F-6280-E32569831164}"/>
              </a:ext>
            </a:extLst>
          </p:cNvPr>
          <p:cNvSpPr/>
          <p:nvPr/>
        </p:nvSpPr>
        <p:spPr>
          <a:xfrm>
            <a:off x="3099574" y="5499610"/>
            <a:ext cx="4365578" cy="31738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040866-DBBB-1EE9-EC47-3D60296DA27C}"/>
              </a:ext>
            </a:extLst>
          </p:cNvPr>
          <p:cNvSpPr txBox="1"/>
          <p:nvPr/>
        </p:nvSpPr>
        <p:spPr>
          <a:xfrm>
            <a:off x="3099574" y="5500845"/>
            <a:ext cx="1675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Local Prober</a:t>
            </a:r>
            <a:r>
              <a:rPr lang="en-US" sz="1400" dirty="0"/>
              <a:t> </a:t>
            </a:r>
            <a:endParaRPr lang="en-SG" sz="14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EF203BE-AE06-858C-47F6-A6D18AC62FCE}"/>
              </a:ext>
            </a:extLst>
          </p:cNvPr>
          <p:cNvCxnSpPr>
            <a:cxnSpLocks/>
          </p:cNvCxnSpPr>
          <p:nvPr/>
        </p:nvCxnSpPr>
        <p:spPr>
          <a:xfrm flipH="1">
            <a:off x="6962263" y="1674478"/>
            <a:ext cx="2365265" cy="402695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373DAC7-7198-12F7-67C2-A864A4EEC9D9}"/>
              </a:ext>
            </a:extLst>
          </p:cNvPr>
          <p:cNvCxnSpPr>
            <a:cxnSpLocks/>
          </p:cNvCxnSpPr>
          <p:nvPr/>
        </p:nvCxnSpPr>
        <p:spPr>
          <a:xfrm flipH="1">
            <a:off x="7181858" y="1694335"/>
            <a:ext cx="3275837" cy="400709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B20E767-E9B1-652A-8487-940F38220C4D}"/>
              </a:ext>
            </a:extLst>
          </p:cNvPr>
          <p:cNvSpPr/>
          <p:nvPr/>
        </p:nvSpPr>
        <p:spPr>
          <a:xfrm>
            <a:off x="1266850" y="3148646"/>
            <a:ext cx="1446963" cy="38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manager</a:t>
            </a:r>
            <a:endParaRPr lang="en-SG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32850A-B07C-9E0B-8FEF-21D37A711156}"/>
              </a:ext>
            </a:extLst>
          </p:cNvPr>
          <p:cNvSpPr txBox="1"/>
          <p:nvPr/>
        </p:nvSpPr>
        <p:spPr>
          <a:xfrm>
            <a:off x="9692794" y="2808340"/>
            <a:ext cx="9390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Target Node</a:t>
            </a:r>
            <a:endParaRPr lang="en-SG" sz="11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E6C275-6353-0212-A8FA-2EAD35A5BDB7}"/>
              </a:ext>
            </a:extLst>
          </p:cNvPr>
          <p:cNvSpPr txBox="1"/>
          <p:nvPr/>
        </p:nvSpPr>
        <p:spPr>
          <a:xfrm>
            <a:off x="9674949" y="4517684"/>
            <a:ext cx="9390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Target Node</a:t>
            </a:r>
            <a:endParaRPr lang="en-SG" sz="1100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D9BE514-3572-BAE4-E2F9-0A2466CBAC15}"/>
              </a:ext>
            </a:extLst>
          </p:cNvPr>
          <p:cNvCxnSpPr>
            <a:stCxn id="4" idx="2"/>
          </p:cNvCxnSpPr>
          <p:nvPr/>
        </p:nvCxnSpPr>
        <p:spPr>
          <a:xfrm flipH="1">
            <a:off x="1990331" y="2637693"/>
            <a:ext cx="1" cy="48418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8E3B1EF6-7EC7-DD10-A767-272BA51418E2}"/>
              </a:ext>
            </a:extLst>
          </p:cNvPr>
          <p:cNvSpPr/>
          <p:nvPr/>
        </p:nvSpPr>
        <p:spPr>
          <a:xfrm>
            <a:off x="72336" y="572759"/>
            <a:ext cx="1375397" cy="353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Prober Agent </a:t>
            </a:r>
            <a:endParaRPr lang="en-SG" sz="1400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2DD0C0A-48EA-B920-C1C9-0DEAFBE4CA58}"/>
              </a:ext>
            </a:extLst>
          </p:cNvPr>
          <p:cNvCxnSpPr>
            <a:cxnSpLocks/>
            <a:endCxn id="79" idx="3"/>
          </p:cNvCxnSpPr>
          <p:nvPr/>
        </p:nvCxnSpPr>
        <p:spPr>
          <a:xfrm flipH="1">
            <a:off x="2713813" y="3331488"/>
            <a:ext cx="348539" cy="80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3EAE48F-A8C0-F426-6CD7-371B9122A696}"/>
              </a:ext>
            </a:extLst>
          </p:cNvPr>
          <p:cNvCxnSpPr>
            <a:cxnSpLocks/>
          </p:cNvCxnSpPr>
          <p:nvPr/>
        </p:nvCxnSpPr>
        <p:spPr>
          <a:xfrm flipH="1" flipV="1">
            <a:off x="2605278" y="3619310"/>
            <a:ext cx="457074" cy="13298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CE36348-ACD4-E216-FCA4-3205DB156DC8}"/>
              </a:ext>
            </a:extLst>
          </p:cNvPr>
          <p:cNvCxnSpPr>
            <a:cxnSpLocks/>
          </p:cNvCxnSpPr>
          <p:nvPr/>
        </p:nvCxnSpPr>
        <p:spPr>
          <a:xfrm flipH="1" flipV="1">
            <a:off x="2325648" y="3580724"/>
            <a:ext cx="736704" cy="20959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082B08D1-0C82-EF10-41C7-8152BD582C57}"/>
              </a:ext>
            </a:extLst>
          </p:cNvPr>
          <p:cNvSpPr/>
          <p:nvPr/>
        </p:nvSpPr>
        <p:spPr>
          <a:xfrm>
            <a:off x="3081756" y="5964105"/>
            <a:ext cx="4365578" cy="354118"/>
          </a:xfrm>
          <a:prstGeom prst="rect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FAE8B73-8A89-3780-7F25-BD1747D3E7D5}"/>
              </a:ext>
            </a:extLst>
          </p:cNvPr>
          <p:cNvSpPr txBox="1"/>
          <p:nvPr/>
        </p:nvSpPr>
        <p:spPr>
          <a:xfrm>
            <a:off x="3080790" y="5986514"/>
            <a:ext cx="1675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Children Probers</a:t>
            </a:r>
            <a:r>
              <a:rPr lang="en-US" sz="1400"/>
              <a:t> </a:t>
            </a:r>
            <a:endParaRPr lang="en-SG" sz="140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CE16D98-4228-C43B-A90E-88F4829AE731}"/>
              </a:ext>
            </a:extLst>
          </p:cNvPr>
          <p:cNvSpPr/>
          <p:nvPr/>
        </p:nvSpPr>
        <p:spPr>
          <a:xfrm>
            <a:off x="10015132" y="5541708"/>
            <a:ext cx="1375397" cy="353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Prober Agent </a:t>
            </a:r>
            <a:endParaRPr lang="en-SG" sz="1400" dirty="0"/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068A992E-0405-3383-BD15-287712559BDA}"/>
              </a:ext>
            </a:extLst>
          </p:cNvPr>
          <p:cNvCxnSpPr>
            <a:stCxn id="89" idx="2"/>
            <a:endCxn id="79" idx="1"/>
          </p:cNvCxnSpPr>
          <p:nvPr/>
        </p:nvCxnSpPr>
        <p:spPr>
          <a:xfrm rot="16200000" flipH="1">
            <a:off x="-193027" y="1879687"/>
            <a:ext cx="2412939" cy="50681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1889168-AB71-A601-DD26-50622F27AA69}"/>
              </a:ext>
            </a:extLst>
          </p:cNvPr>
          <p:cNvSpPr/>
          <p:nvPr/>
        </p:nvSpPr>
        <p:spPr>
          <a:xfrm>
            <a:off x="10015132" y="6141164"/>
            <a:ext cx="1375397" cy="353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Prober Agent </a:t>
            </a:r>
            <a:endParaRPr lang="en-SG" sz="14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AD91286-57FF-2905-34F5-E390C34536AF}"/>
              </a:ext>
            </a:extLst>
          </p:cNvPr>
          <p:cNvCxnSpPr>
            <a:cxnSpLocks/>
            <a:endCxn id="102" idx="1"/>
          </p:cNvCxnSpPr>
          <p:nvPr/>
        </p:nvCxnSpPr>
        <p:spPr>
          <a:xfrm flipV="1">
            <a:off x="7465152" y="5718642"/>
            <a:ext cx="2549980" cy="3619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8060197-1D10-362B-E2BE-88D5EEF7A6C1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7465152" y="6196886"/>
            <a:ext cx="2549980" cy="1212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4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 9">
            <a:extLst>
              <a:ext uri="{FF2B5EF4-FFF2-40B4-BE49-F238E27FC236}">
                <a16:creationId xmlns:a16="http://schemas.microsoft.com/office/drawing/2014/main" id="{AF928FBA-5D2D-EE01-5214-3FCBCDC42C21}"/>
              </a:ext>
            </a:extLst>
          </p:cNvPr>
          <p:cNvSpPr/>
          <p:nvPr/>
        </p:nvSpPr>
        <p:spPr>
          <a:xfrm>
            <a:off x="7849062" y="2824954"/>
            <a:ext cx="1380512" cy="8728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CD7671E-7880-6199-4EA4-7C32B470D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50" y="1726223"/>
            <a:ext cx="1263204" cy="561424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1AEDC-44EF-4785-8B90-F8E73CB8D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755" y="1747705"/>
            <a:ext cx="607351" cy="600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CF0BF-A80E-5F7A-98E1-0347C50DE15A}"/>
              </a:ext>
            </a:extLst>
          </p:cNvPr>
          <p:cNvSpPr txBox="1"/>
          <p:nvPr/>
        </p:nvSpPr>
        <p:spPr>
          <a:xfrm>
            <a:off x="2448573" y="1486095"/>
            <a:ext cx="142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Score database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41B1773-C3DA-2DCE-F22B-1E81A42DEE44}"/>
              </a:ext>
            </a:extLst>
          </p:cNvPr>
          <p:cNvSpPr/>
          <p:nvPr/>
        </p:nvSpPr>
        <p:spPr>
          <a:xfrm rot="10800000">
            <a:off x="1800849" y="1916524"/>
            <a:ext cx="802248" cy="1203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6B7B94-349F-CD9C-2F89-F27340BD4074}"/>
              </a:ext>
            </a:extLst>
          </p:cNvPr>
          <p:cNvSpPr/>
          <p:nvPr/>
        </p:nvSpPr>
        <p:spPr>
          <a:xfrm>
            <a:off x="2448573" y="2817187"/>
            <a:ext cx="946628" cy="44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Data manager </a:t>
            </a:r>
            <a:endParaRPr lang="en-SG" sz="11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361F21-E337-2D4D-D427-EF901B7AEC16}"/>
              </a:ext>
            </a:extLst>
          </p:cNvPr>
          <p:cNvSpPr txBox="1"/>
          <p:nvPr/>
        </p:nvSpPr>
        <p:spPr>
          <a:xfrm>
            <a:off x="3611018" y="1486095"/>
            <a:ext cx="1069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Raw database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F1727-BA1B-7899-743B-E1E538F187E3}"/>
              </a:ext>
            </a:extLst>
          </p:cNvPr>
          <p:cNvSpPr/>
          <p:nvPr/>
        </p:nvSpPr>
        <p:spPr>
          <a:xfrm>
            <a:off x="667723" y="2814064"/>
            <a:ext cx="1350335" cy="448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Network topology Display </a:t>
            </a:r>
            <a:endParaRPr lang="en-SG" sz="11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F063B1-836E-C9F6-53EE-F8CC5A1F2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9006" y="1736814"/>
            <a:ext cx="511536" cy="60014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373A40-B8C5-738B-D2B3-E3C736642DDF}"/>
              </a:ext>
            </a:extLst>
          </p:cNvPr>
          <p:cNvSpPr/>
          <p:nvPr/>
        </p:nvSpPr>
        <p:spPr>
          <a:xfrm>
            <a:off x="3929756" y="2817187"/>
            <a:ext cx="946628" cy="44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Monitor hub</a:t>
            </a:r>
            <a:endParaRPr lang="en-SG" sz="1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0D23B-A20D-B701-F64E-DC61B3C2499B}"/>
              </a:ext>
            </a:extLst>
          </p:cNvPr>
          <p:cNvSpPr txBox="1"/>
          <p:nvPr/>
        </p:nvSpPr>
        <p:spPr>
          <a:xfrm>
            <a:off x="537216" y="720927"/>
            <a:ext cx="1176072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900" b="1" dirty="0"/>
              <a:t>Web-Browser </a:t>
            </a:r>
            <a:endParaRPr lang="zh-CN" altLang="en-US" sz="1600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05153BB9-344F-9641-499E-EB85EFAE7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94" y="421508"/>
            <a:ext cx="257116" cy="25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B38006-0C13-AA43-0A16-E394B0D908DF}"/>
              </a:ext>
            </a:extLst>
          </p:cNvPr>
          <p:cNvCxnSpPr>
            <a:cxnSpLocks/>
          </p:cNvCxnSpPr>
          <p:nvPr/>
        </p:nvCxnSpPr>
        <p:spPr>
          <a:xfrm flipV="1">
            <a:off x="4119775" y="2336963"/>
            <a:ext cx="0" cy="4771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0EAC9DD-3C72-972E-CB9B-2613180D47DF}"/>
              </a:ext>
            </a:extLst>
          </p:cNvPr>
          <p:cNvCxnSpPr>
            <a:stCxn id="13" idx="1"/>
            <a:endCxn id="8" idx="3"/>
          </p:cNvCxnSpPr>
          <p:nvPr/>
        </p:nvCxnSpPr>
        <p:spPr>
          <a:xfrm rot="10800000" flipV="1">
            <a:off x="3395202" y="2036889"/>
            <a:ext cx="373805" cy="1003168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DF20EE-5ECE-0DBB-0449-C7AB452E176F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951430" y="2347854"/>
            <a:ext cx="1" cy="4771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EA2694-B267-3882-C66C-47F242ED4FA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018901" y="3040057"/>
            <a:ext cx="429672" cy="2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CDB72E-29FE-AD21-C637-8E7D01ECD3D8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342891" y="2287647"/>
            <a:ext cx="0" cy="5264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969B876-AD85-1FF6-FF20-3CEE01B38E73}"/>
              </a:ext>
            </a:extLst>
          </p:cNvPr>
          <p:cNvSpPr/>
          <p:nvPr/>
        </p:nvSpPr>
        <p:spPr>
          <a:xfrm>
            <a:off x="5337962" y="2817187"/>
            <a:ext cx="946628" cy="44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Comm module</a:t>
            </a:r>
            <a:endParaRPr lang="en-SG" sz="11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09AB69-3D34-B703-EE6C-1CE306F1BF61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4876384" y="3038495"/>
            <a:ext cx="461578" cy="15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9">
            <a:extLst>
              <a:ext uri="{FF2B5EF4-FFF2-40B4-BE49-F238E27FC236}">
                <a16:creationId xmlns:a16="http://schemas.microsoft.com/office/drawing/2014/main" id="{75EAE34A-70B8-6F1A-BC8D-DF5EE936B617}"/>
              </a:ext>
            </a:extLst>
          </p:cNvPr>
          <p:cNvSpPr/>
          <p:nvPr/>
        </p:nvSpPr>
        <p:spPr>
          <a:xfrm>
            <a:off x="4384029" y="4064364"/>
            <a:ext cx="6764181" cy="261202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DC3CFC-438B-6D7E-0E1C-80FDCE9FFD88}"/>
              </a:ext>
            </a:extLst>
          </p:cNvPr>
          <p:cNvSpPr txBox="1"/>
          <p:nvPr/>
        </p:nvSpPr>
        <p:spPr>
          <a:xfrm>
            <a:off x="4403070" y="6411584"/>
            <a:ext cx="1641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COM1-AS06</a:t>
            </a:r>
            <a:endParaRPr lang="en-SG" sz="1600" b="1" dirty="0">
              <a:solidFill>
                <a:srgbClr val="002060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D3E37C7-3063-C45C-D08E-5BF925624A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851" y="4866116"/>
            <a:ext cx="446811" cy="44681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F6C775-A141-74E7-2585-E99E2938F674}"/>
              </a:ext>
            </a:extLst>
          </p:cNvPr>
          <p:cNvCxnSpPr>
            <a:cxnSpLocks/>
          </p:cNvCxnSpPr>
          <p:nvPr/>
        </p:nvCxnSpPr>
        <p:spPr>
          <a:xfrm>
            <a:off x="5061606" y="5319595"/>
            <a:ext cx="0" cy="3083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ylinder 41">
            <a:extLst>
              <a:ext uri="{FF2B5EF4-FFF2-40B4-BE49-F238E27FC236}">
                <a16:creationId xmlns:a16="http://schemas.microsoft.com/office/drawing/2014/main" id="{9542DEE4-226D-FE03-FB32-24FD9C72F693}"/>
              </a:ext>
            </a:extLst>
          </p:cNvPr>
          <p:cNvSpPr/>
          <p:nvPr/>
        </p:nvSpPr>
        <p:spPr>
          <a:xfrm>
            <a:off x="4959197" y="5645464"/>
            <a:ext cx="204817" cy="17187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E47147-37E9-1E77-0DF2-680BB23BC974}"/>
              </a:ext>
            </a:extLst>
          </p:cNvPr>
          <p:cNvSpPr txBox="1"/>
          <p:nvPr/>
        </p:nvSpPr>
        <p:spPr>
          <a:xfrm>
            <a:off x="4725257" y="5810445"/>
            <a:ext cx="80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Local storage [text log file]</a:t>
            </a:r>
            <a:endParaRPr lang="en-SG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FC25322-444F-B9BF-E6D6-6185C55830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874" y="4705857"/>
            <a:ext cx="446811" cy="3268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EACDAFC-CE38-721C-EE48-FD44ABC04AB8}"/>
              </a:ext>
            </a:extLst>
          </p:cNvPr>
          <p:cNvCxnSpPr>
            <a:cxnSpLocks/>
          </p:cNvCxnSpPr>
          <p:nvPr/>
        </p:nvCxnSpPr>
        <p:spPr>
          <a:xfrm>
            <a:off x="5369216" y="4889396"/>
            <a:ext cx="776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E6A39A-88FD-4778-B2CD-B157F3D6E180}"/>
              </a:ext>
            </a:extLst>
          </p:cNvPr>
          <p:cNvSpPr txBox="1"/>
          <p:nvPr/>
        </p:nvSpPr>
        <p:spPr>
          <a:xfrm>
            <a:off x="3973518" y="4923846"/>
            <a:ext cx="946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Probe Agent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6736434-4DF2-F89E-FCE1-DE874EBF409D}"/>
              </a:ext>
            </a:extLst>
          </p:cNvPr>
          <p:cNvSpPr/>
          <p:nvPr/>
        </p:nvSpPr>
        <p:spPr>
          <a:xfrm>
            <a:off x="6129636" y="4766943"/>
            <a:ext cx="1248672" cy="2308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OpenStack Prober</a:t>
            </a:r>
            <a:endParaRPr lang="en-SG" sz="11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825614-43F4-009A-C8D6-F205DC6CD1D4}"/>
              </a:ext>
            </a:extLst>
          </p:cNvPr>
          <p:cNvCxnSpPr>
            <a:cxnSpLocks/>
          </p:cNvCxnSpPr>
          <p:nvPr/>
        </p:nvCxnSpPr>
        <p:spPr>
          <a:xfrm>
            <a:off x="7378307" y="4866116"/>
            <a:ext cx="776338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BCFEDE4-892C-F1DD-4028-D6BBC723257E}"/>
              </a:ext>
            </a:extLst>
          </p:cNvPr>
          <p:cNvSpPr txBox="1"/>
          <p:nvPr/>
        </p:nvSpPr>
        <p:spPr>
          <a:xfrm>
            <a:off x="8638229" y="4751554"/>
            <a:ext cx="2083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OpenStack servers [10.0.6.x]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D8C9670-BF15-7EDF-1D91-A254AC5BD5AF}"/>
              </a:ext>
            </a:extLst>
          </p:cNvPr>
          <p:cNvSpPr/>
          <p:nvPr/>
        </p:nvSpPr>
        <p:spPr>
          <a:xfrm>
            <a:off x="6129636" y="5121645"/>
            <a:ext cx="1248672" cy="2308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Kypo</a:t>
            </a:r>
            <a:r>
              <a:rPr lang="en-US" sz="1100" dirty="0"/>
              <a:t> Prober</a:t>
            </a:r>
            <a:endParaRPr lang="en-SG" sz="11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EB1846-EDC1-6503-FF68-554E8A916388}"/>
              </a:ext>
            </a:extLst>
          </p:cNvPr>
          <p:cNvCxnSpPr>
            <a:cxnSpLocks/>
          </p:cNvCxnSpPr>
          <p:nvPr/>
        </p:nvCxnSpPr>
        <p:spPr>
          <a:xfrm>
            <a:off x="5319662" y="5237061"/>
            <a:ext cx="776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820E4D2-EA4F-876B-3B98-C7EA8A636610}"/>
              </a:ext>
            </a:extLst>
          </p:cNvPr>
          <p:cNvCxnSpPr>
            <a:cxnSpLocks/>
          </p:cNvCxnSpPr>
          <p:nvPr/>
        </p:nvCxnSpPr>
        <p:spPr>
          <a:xfrm>
            <a:off x="7428536" y="5205112"/>
            <a:ext cx="776338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3D9E10DE-5168-5322-1D04-DFE995DA2C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4874" y="5113355"/>
            <a:ext cx="409986" cy="326177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B6F651B-F765-0A23-9665-FE7C25D64B3B}"/>
              </a:ext>
            </a:extLst>
          </p:cNvPr>
          <p:cNvSpPr txBox="1"/>
          <p:nvPr/>
        </p:nvSpPr>
        <p:spPr>
          <a:xfrm>
            <a:off x="8651684" y="5106256"/>
            <a:ext cx="217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2060"/>
                </a:solidFill>
              </a:rPr>
              <a:t>Kypo</a:t>
            </a:r>
            <a:r>
              <a:rPr lang="en-US" sz="1100" dirty="0">
                <a:solidFill>
                  <a:srgbClr val="002060"/>
                </a:solidFill>
              </a:rPr>
              <a:t> servers [192.168.200.x ]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95B0663-2643-0CC8-12A3-B881160B50ED}"/>
              </a:ext>
            </a:extLst>
          </p:cNvPr>
          <p:cNvSpPr/>
          <p:nvPr/>
        </p:nvSpPr>
        <p:spPr>
          <a:xfrm>
            <a:off x="6130384" y="5530048"/>
            <a:ext cx="1248672" cy="2308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FW Prober</a:t>
            </a:r>
            <a:endParaRPr lang="en-SG" sz="11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E026107-AC78-94D8-ACCA-21EC450587A1}"/>
              </a:ext>
            </a:extLst>
          </p:cNvPr>
          <p:cNvCxnSpPr>
            <a:cxnSpLocks/>
          </p:cNvCxnSpPr>
          <p:nvPr/>
        </p:nvCxnSpPr>
        <p:spPr>
          <a:xfrm>
            <a:off x="5319662" y="5362926"/>
            <a:ext cx="809974" cy="282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8DA7D3A-DE02-B590-2A57-75EF56CA8AD1}"/>
              </a:ext>
            </a:extLst>
          </p:cNvPr>
          <p:cNvCxnSpPr>
            <a:cxnSpLocks/>
          </p:cNvCxnSpPr>
          <p:nvPr/>
        </p:nvCxnSpPr>
        <p:spPr>
          <a:xfrm>
            <a:off x="7428536" y="5644167"/>
            <a:ext cx="776338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5D210AC4-A6AA-21C0-2CEA-6EE3FD7ABC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2955" y="5556075"/>
            <a:ext cx="398587" cy="27164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02069E62-19E6-5088-C1E8-CD33134DB5FE}"/>
              </a:ext>
            </a:extLst>
          </p:cNvPr>
          <p:cNvSpPr txBox="1"/>
          <p:nvPr/>
        </p:nvSpPr>
        <p:spPr>
          <a:xfrm>
            <a:off x="8662012" y="5542914"/>
            <a:ext cx="217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NCL firewall [172.18.178.10 ]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69A605E-417C-232C-78E4-E1FFD890EBBA}"/>
              </a:ext>
            </a:extLst>
          </p:cNvPr>
          <p:cNvSpPr/>
          <p:nvPr/>
        </p:nvSpPr>
        <p:spPr>
          <a:xfrm>
            <a:off x="6145554" y="5964110"/>
            <a:ext cx="1248672" cy="2308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GPU Prober</a:t>
            </a:r>
            <a:endParaRPr lang="en-SG" sz="11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40E3617-804A-8A19-9A28-429692A3B579}"/>
              </a:ext>
            </a:extLst>
          </p:cNvPr>
          <p:cNvCxnSpPr>
            <a:cxnSpLocks/>
          </p:cNvCxnSpPr>
          <p:nvPr/>
        </p:nvCxnSpPr>
        <p:spPr>
          <a:xfrm>
            <a:off x="5217939" y="5409361"/>
            <a:ext cx="911697" cy="719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0FFFA52-5275-D90A-0A13-62559A408EC0}"/>
              </a:ext>
            </a:extLst>
          </p:cNvPr>
          <p:cNvCxnSpPr>
            <a:cxnSpLocks/>
          </p:cNvCxnSpPr>
          <p:nvPr/>
        </p:nvCxnSpPr>
        <p:spPr>
          <a:xfrm>
            <a:off x="7466617" y="6079526"/>
            <a:ext cx="776338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82">
            <a:extLst>
              <a:ext uri="{FF2B5EF4-FFF2-40B4-BE49-F238E27FC236}">
                <a16:creationId xmlns:a16="http://schemas.microsoft.com/office/drawing/2014/main" id="{40D2EBF1-37E0-994E-F909-727BC65EC0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1323" y="5940775"/>
            <a:ext cx="353537" cy="32516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3434C404-A2B3-A45B-5E3B-A21CA6103844}"/>
              </a:ext>
            </a:extLst>
          </p:cNvPr>
          <p:cNvSpPr txBox="1"/>
          <p:nvPr/>
        </p:nvSpPr>
        <p:spPr>
          <a:xfrm>
            <a:off x="8701348" y="5978845"/>
            <a:ext cx="217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GPU NVIDA-SMI [10.0.6.2x]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A07333F-1E19-A1C9-C87F-545FD1346005}"/>
              </a:ext>
            </a:extLst>
          </p:cNvPr>
          <p:cNvSpPr/>
          <p:nvPr/>
        </p:nvSpPr>
        <p:spPr>
          <a:xfrm>
            <a:off x="6169980" y="6351063"/>
            <a:ext cx="1248672" cy="2308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CTF Prober</a:t>
            </a:r>
            <a:endParaRPr lang="en-SG" sz="11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4CBB25D-673E-73BF-B2DE-DE97DCBE3802}"/>
              </a:ext>
            </a:extLst>
          </p:cNvPr>
          <p:cNvCxnSpPr>
            <a:cxnSpLocks/>
          </p:cNvCxnSpPr>
          <p:nvPr/>
        </p:nvCxnSpPr>
        <p:spPr>
          <a:xfrm>
            <a:off x="7485859" y="6478358"/>
            <a:ext cx="776338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B0BDD20F-197E-2C12-207B-2727D8466D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5169" y="6328273"/>
            <a:ext cx="659382" cy="27602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633F510C-05B2-87CC-D5D1-EA1D009C478F}"/>
              </a:ext>
            </a:extLst>
          </p:cNvPr>
          <p:cNvSpPr txBox="1"/>
          <p:nvPr/>
        </p:nvSpPr>
        <p:spPr>
          <a:xfrm>
            <a:off x="8991649" y="6332804"/>
            <a:ext cx="217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CISS-Red VB [10.0.6.11]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C5290F8-F7D6-0EC7-0EBE-F5C86F1CA2AF}"/>
              </a:ext>
            </a:extLst>
          </p:cNvPr>
          <p:cNvSpPr/>
          <p:nvPr/>
        </p:nvSpPr>
        <p:spPr>
          <a:xfrm>
            <a:off x="6149253" y="4219257"/>
            <a:ext cx="1248672" cy="2308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Support Prober</a:t>
            </a:r>
            <a:endParaRPr lang="en-SG" sz="11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C22309-0364-F5BC-2FA7-81531E4EDC5A}"/>
              </a:ext>
            </a:extLst>
          </p:cNvPr>
          <p:cNvCxnSpPr>
            <a:cxnSpLocks/>
          </p:cNvCxnSpPr>
          <p:nvPr/>
        </p:nvCxnSpPr>
        <p:spPr>
          <a:xfrm flipV="1">
            <a:off x="5336480" y="4450089"/>
            <a:ext cx="793156" cy="371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F0EE325-6054-3148-C04F-EDD09DA003BB}"/>
              </a:ext>
            </a:extLst>
          </p:cNvPr>
          <p:cNvCxnSpPr>
            <a:cxnSpLocks/>
          </p:cNvCxnSpPr>
          <p:nvPr/>
        </p:nvCxnSpPr>
        <p:spPr>
          <a:xfrm>
            <a:off x="7428536" y="4450038"/>
            <a:ext cx="776338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E899044-D118-231E-95B5-C0B6F60B282B}"/>
              </a:ext>
            </a:extLst>
          </p:cNvPr>
          <p:cNvSpPr txBox="1"/>
          <p:nvPr/>
        </p:nvSpPr>
        <p:spPr>
          <a:xfrm>
            <a:off x="8151013" y="4233143"/>
            <a:ext cx="26254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002060"/>
                </a:solidFill>
              </a:rPr>
              <a:t>Jumphost</a:t>
            </a:r>
            <a:r>
              <a:rPr lang="en-US" sz="1100" dirty="0">
                <a:solidFill>
                  <a:srgbClr val="002060"/>
                </a:solidFill>
              </a:rPr>
              <a:t>, YC laptop FTP, </a:t>
            </a:r>
            <a:endParaRPr lang="en-SG" sz="1100" dirty="0">
              <a:solidFill>
                <a:srgbClr val="002060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38288DA-5FB6-F735-495C-F92ACE4FA315}"/>
              </a:ext>
            </a:extLst>
          </p:cNvPr>
          <p:cNvCxnSpPr>
            <a:cxnSpLocks/>
          </p:cNvCxnSpPr>
          <p:nvPr/>
        </p:nvCxnSpPr>
        <p:spPr>
          <a:xfrm flipV="1">
            <a:off x="6761643" y="1486095"/>
            <a:ext cx="34480" cy="277110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E81D110-9B94-7B60-168C-D53624A90CC9}"/>
              </a:ext>
            </a:extLst>
          </p:cNvPr>
          <p:cNvSpPr txBox="1"/>
          <p:nvPr/>
        </p:nvSpPr>
        <p:spPr>
          <a:xfrm>
            <a:off x="6521330" y="1179435"/>
            <a:ext cx="1929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NTP[</a:t>
            </a:r>
            <a:r>
              <a:rPr lang="en-SG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0.sg.pool.ntp.org</a:t>
            </a:r>
            <a:r>
              <a:rPr lang="en-US" sz="1100" dirty="0">
                <a:solidFill>
                  <a:srgbClr val="002060"/>
                </a:solidFill>
              </a:rPr>
              <a:t>] </a:t>
            </a:r>
            <a:endParaRPr lang="en-SG" sz="1100" dirty="0">
              <a:solidFill>
                <a:srgbClr val="002060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F45CA00-FA33-E68F-21D6-A49E890FE9CC}"/>
              </a:ext>
            </a:extLst>
          </p:cNvPr>
          <p:cNvCxnSpPr>
            <a:cxnSpLocks/>
            <a:stCxn id="15" idx="2"/>
            <a:endCxn id="4" idx="0"/>
          </p:cNvCxnSpPr>
          <p:nvPr/>
        </p:nvCxnSpPr>
        <p:spPr>
          <a:xfrm>
            <a:off x="1125252" y="951759"/>
            <a:ext cx="0" cy="774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3CC146D-28CA-B4ED-07DC-CBAF6C430CFA}"/>
              </a:ext>
            </a:extLst>
          </p:cNvPr>
          <p:cNvCxnSpPr>
            <a:cxnSpLocks/>
          </p:cNvCxnSpPr>
          <p:nvPr/>
        </p:nvCxnSpPr>
        <p:spPr>
          <a:xfrm flipV="1">
            <a:off x="5275311" y="3264159"/>
            <a:ext cx="524381" cy="15019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8FED457-7C0B-FDB2-CA83-0DBA5D299A73}"/>
              </a:ext>
            </a:extLst>
          </p:cNvPr>
          <p:cNvCxnSpPr>
            <a:cxnSpLocks/>
          </p:cNvCxnSpPr>
          <p:nvPr/>
        </p:nvCxnSpPr>
        <p:spPr>
          <a:xfrm flipH="1">
            <a:off x="5011070" y="3249365"/>
            <a:ext cx="535612" cy="15221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1454239-6FE9-53AD-218D-C2B50A450E74}"/>
              </a:ext>
            </a:extLst>
          </p:cNvPr>
          <p:cNvSpPr txBox="1"/>
          <p:nvPr/>
        </p:nvSpPr>
        <p:spPr>
          <a:xfrm>
            <a:off x="4573791" y="3512982"/>
            <a:ext cx="9466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Data fetch </a:t>
            </a:r>
          </a:p>
          <a:p>
            <a:r>
              <a:rPr lang="en-US" sz="1100" dirty="0">
                <a:solidFill>
                  <a:srgbClr val="002060"/>
                </a:solidFill>
              </a:rPr>
              <a:t>[UDP]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1DE0753-A400-4103-9A36-8C7CB7B4CFD0}"/>
              </a:ext>
            </a:extLst>
          </p:cNvPr>
          <p:cNvSpPr txBox="1"/>
          <p:nvPr/>
        </p:nvSpPr>
        <p:spPr>
          <a:xfrm>
            <a:off x="5663104" y="3518898"/>
            <a:ext cx="9466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Data report</a:t>
            </a:r>
          </a:p>
          <a:p>
            <a:r>
              <a:rPr lang="en-US" sz="1100" dirty="0">
                <a:solidFill>
                  <a:srgbClr val="002060"/>
                </a:solidFill>
              </a:rPr>
              <a:t>https]</a:t>
            </a:r>
            <a:endParaRPr lang="en-SG" sz="1100" dirty="0">
              <a:solidFill>
                <a:srgbClr val="002060"/>
              </a:solidFill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49751D71-9722-F959-1232-09E512F0E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3823" y="3185428"/>
            <a:ext cx="351416" cy="3514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8A0A9B8D-5345-A614-FCAD-C96AE813D06B}"/>
              </a:ext>
            </a:extLst>
          </p:cNvPr>
          <p:cNvSpPr txBox="1"/>
          <p:nvPr/>
        </p:nvSpPr>
        <p:spPr>
          <a:xfrm>
            <a:off x="7830757" y="2776817"/>
            <a:ext cx="1641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YC desktop</a:t>
            </a:r>
            <a:endParaRPr lang="en-SG" sz="1600" b="1" dirty="0">
              <a:solidFill>
                <a:srgbClr val="002060"/>
              </a:solidFill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6352A28-7F3F-219F-5E4A-CA7DB0AD2D8E}"/>
              </a:ext>
            </a:extLst>
          </p:cNvPr>
          <p:cNvCxnSpPr>
            <a:cxnSpLocks/>
          </p:cNvCxnSpPr>
          <p:nvPr/>
        </p:nvCxnSpPr>
        <p:spPr>
          <a:xfrm>
            <a:off x="8380947" y="3338411"/>
            <a:ext cx="28106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F7CC68C6-FA44-8186-76B6-C41B17C345EC}"/>
              </a:ext>
            </a:extLst>
          </p:cNvPr>
          <p:cNvSpPr txBox="1"/>
          <p:nvPr/>
        </p:nvSpPr>
        <p:spPr>
          <a:xfrm>
            <a:off x="8614860" y="3203692"/>
            <a:ext cx="1911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Local file system and process</a:t>
            </a:r>
            <a:endParaRPr lang="en-SG" sz="1100" dirty="0">
              <a:solidFill>
                <a:srgbClr val="002060"/>
              </a:solidFill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1BB7A66-1945-A55E-2237-A9C21E0C53BA}"/>
              </a:ext>
            </a:extLst>
          </p:cNvPr>
          <p:cNvCxnSpPr>
            <a:cxnSpLocks/>
            <a:endCxn id="125" idx="2"/>
          </p:cNvCxnSpPr>
          <p:nvPr/>
        </p:nvCxnSpPr>
        <p:spPr>
          <a:xfrm flipV="1">
            <a:off x="7394226" y="3536844"/>
            <a:ext cx="795305" cy="72953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E81C9E21-1DFD-185D-56C7-9DAF5878CE67}"/>
              </a:ext>
            </a:extLst>
          </p:cNvPr>
          <p:cNvSpPr txBox="1"/>
          <p:nvPr/>
        </p:nvSpPr>
        <p:spPr>
          <a:xfrm>
            <a:off x="1180276" y="434650"/>
            <a:ext cx="802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02060"/>
                </a:solidFill>
              </a:rPr>
              <a:t>User </a:t>
            </a:r>
            <a:endParaRPr lang="en-SG" sz="9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95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6FAF3C9-5F10-CE98-63DB-B085542D9489}"/>
              </a:ext>
            </a:extLst>
          </p:cNvPr>
          <p:cNvSpPr/>
          <p:nvPr/>
        </p:nvSpPr>
        <p:spPr>
          <a:xfrm>
            <a:off x="6217921" y="1892808"/>
            <a:ext cx="2011586" cy="113920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F3B911A-98E4-AFFC-5CBF-4A300D037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92" y="1525119"/>
            <a:ext cx="802247" cy="356554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6EFC47-75E5-8A90-58E4-7721376CB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120" y="3597787"/>
            <a:ext cx="607351" cy="600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5525AD-80FC-2C28-418E-4102DFFC939E}"/>
              </a:ext>
            </a:extLst>
          </p:cNvPr>
          <p:cNvSpPr txBox="1"/>
          <p:nvPr/>
        </p:nvSpPr>
        <p:spPr>
          <a:xfrm>
            <a:off x="3979936" y="3115645"/>
            <a:ext cx="142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Score database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1D503-1021-08FE-C991-DED47E1CC675}"/>
              </a:ext>
            </a:extLst>
          </p:cNvPr>
          <p:cNvSpPr txBox="1"/>
          <p:nvPr/>
        </p:nvSpPr>
        <p:spPr>
          <a:xfrm>
            <a:off x="2151024" y="5853679"/>
            <a:ext cx="1069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Raw database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439E4-07F4-F109-9B62-5D0C37EC928A}"/>
              </a:ext>
            </a:extLst>
          </p:cNvPr>
          <p:cNvSpPr/>
          <p:nvPr/>
        </p:nvSpPr>
        <p:spPr>
          <a:xfrm>
            <a:off x="633422" y="2235578"/>
            <a:ext cx="1176072" cy="448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Network Topology State Panel</a:t>
            </a:r>
            <a:endParaRPr lang="en-SG" sz="1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42BA9-088E-1F68-E710-654EBEDD505C}"/>
              </a:ext>
            </a:extLst>
          </p:cNvPr>
          <p:cNvSpPr txBox="1"/>
          <p:nvPr/>
        </p:nvSpPr>
        <p:spPr>
          <a:xfrm>
            <a:off x="554608" y="954139"/>
            <a:ext cx="1176072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900" b="1" dirty="0"/>
              <a:t>Web-Browser </a:t>
            </a:r>
            <a:endParaRPr lang="zh-CN" altLang="en-US" sz="1600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5F616F32-087A-224F-5364-36D874784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28" y="610222"/>
            <a:ext cx="257116" cy="25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FA5621-00CA-7595-3EE1-9ADE1B5BCCD7}"/>
              </a:ext>
            </a:extLst>
          </p:cNvPr>
          <p:cNvCxnSpPr>
            <a:cxnSpLocks/>
          </p:cNvCxnSpPr>
          <p:nvPr/>
        </p:nvCxnSpPr>
        <p:spPr>
          <a:xfrm flipV="1">
            <a:off x="1051717" y="2760577"/>
            <a:ext cx="0" cy="12242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515EBA3-9885-200C-A7E3-BE221B2F8ED1}"/>
              </a:ext>
            </a:extLst>
          </p:cNvPr>
          <p:cNvSpPr/>
          <p:nvPr/>
        </p:nvSpPr>
        <p:spPr>
          <a:xfrm>
            <a:off x="6499506" y="4132429"/>
            <a:ext cx="1213101" cy="296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Prober Agent </a:t>
            </a:r>
            <a:endParaRPr lang="en-SG" sz="11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BE9C73-B15A-5847-0B9F-4926827DDAE5}"/>
              </a:ext>
            </a:extLst>
          </p:cNvPr>
          <p:cNvCxnSpPr>
            <a:cxnSpLocks/>
          </p:cNvCxnSpPr>
          <p:nvPr/>
        </p:nvCxnSpPr>
        <p:spPr>
          <a:xfrm>
            <a:off x="1062260" y="1226772"/>
            <a:ext cx="0" cy="310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72CFBBF-D3D8-69BD-2CBC-15AABE2057F9}"/>
              </a:ext>
            </a:extLst>
          </p:cNvPr>
          <p:cNvSpPr txBox="1"/>
          <p:nvPr/>
        </p:nvSpPr>
        <p:spPr>
          <a:xfrm>
            <a:off x="1086725" y="617026"/>
            <a:ext cx="802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02060"/>
                </a:solidFill>
              </a:rPr>
              <a:t>User </a:t>
            </a:r>
            <a:endParaRPr lang="en-SG" sz="900" dirty="0">
              <a:solidFill>
                <a:srgbClr val="00206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1C0B48-1D42-45AA-B718-9586D847F45C}"/>
              </a:ext>
            </a:extLst>
          </p:cNvPr>
          <p:cNvSpPr/>
          <p:nvPr/>
        </p:nvSpPr>
        <p:spPr>
          <a:xfrm>
            <a:off x="4367522" y="2177140"/>
            <a:ext cx="1077470" cy="448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Grafana build-in plugin Panels</a:t>
            </a:r>
            <a:endParaRPr lang="en-SG" sz="10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7802A6-755C-A94D-FA55-D69223C1508E}"/>
              </a:ext>
            </a:extLst>
          </p:cNvPr>
          <p:cNvSpPr/>
          <p:nvPr/>
        </p:nvSpPr>
        <p:spPr>
          <a:xfrm>
            <a:off x="1940044" y="2392619"/>
            <a:ext cx="934160" cy="289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Ajax Panels</a:t>
            </a:r>
            <a:endParaRPr lang="en-SG" sz="1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8F8E92-1AA6-63F2-FA59-D9744C1A716B}"/>
              </a:ext>
            </a:extLst>
          </p:cNvPr>
          <p:cNvSpPr/>
          <p:nvPr/>
        </p:nvSpPr>
        <p:spPr>
          <a:xfrm>
            <a:off x="1549693" y="4990949"/>
            <a:ext cx="946628" cy="44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Data manager </a:t>
            </a:r>
            <a:endParaRPr lang="en-SG" sz="1100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40E8FF-C71C-A63C-A563-9311C2A83E6E}"/>
              </a:ext>
            </a:extLst>
          </p:cNvPr>
          <p:cNvSpPr/>
          <p:nvPr/>
        </p:nvSpPr>
        <p:spPr>
          <a:xfrm>
            <a:off x="808150" y="4010169"/>
            <a:ext cx="862415" cy="392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Ajax Panel manager</a:t>
            </a:r>
            <a:endParaRPr lang="en-SG" sz="1100" b="1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305D0D7-0717-3F6E-3321-9EDBAC646E3B}"/>
              </a:ext>
            </a:extLst>
          </p:cNvPr>
          <p:cNvCxnSpPr>
            <a:cxnSpLocks/>
            <a:stCxn id="34" idx="0"/>
            <a:endCxn id="31" idx="2"/>
          </p:cNvCxnSpPr>
          <p:nvPr/>
        </p:nvCxnSpPr>
        <p:spPr>
          <a:xfrm rot="5400000" flipH="1" flipV="1">
            <a:off x="1159122" y="2762167"/>
            <a:ext cx="1328238" cy="1167766"/>
          </a:xfrm>
          <a:prstGeom prst="bentConnector3">
            <a:avLst>
              <a:gd name="adj1" fmla="val 2061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EA1AFEB-938E-D99F-AB1B-AB175C55925C}"/>
              </a:ext>
            </a:extLst>
          </p:cNvPr>
          <p:cNvSpPr/>
          <p:nvPr/>
        </p:nvSpPr>
        <p:spPr>
          <a:xfrm>
            <a:off x="3053499" y="4990948"/>
            <a:ext cx="946628" cy="445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Comm manager</a:t>
            </a:r>
            <a:endParaRPr lang="en-SG" sz="1100" b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D55806E-ADED-BFFE-8DD3-6621AD74CD56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2496321" y="5207833"/>
            <a:ext cx="557178" cy="59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5A3D4054-CA87-3297-85AD-857AA6850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0565" y="5843372"/>
            <a:ext cx="511536" cy="60014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ED127D9-12D6-34A1-5728-410B3BEEC57D}"/>
              </a:ext>
            </a:extLst>
          </p:cNvPr>
          <p:cNvCxnSpPr>
            <a:cxnSpLocks/>
          </p:cNvCxnSpPr>
          <p:nvPr/>
        </p:nvCxnSpPr>
        <p:spPr>
          <a:xfrm>
            <a:off x="1952809" y="5469516"/>
            <a:ext cx="0" cy="35556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8470823-7137-D543-55FE-C45E1CCCD9EC}"/>
              </a:ext>
            </a:extLst>
          </p:cNvPr>
          <p:cNvSpPr/>
          <p:nvPr/>
        </p:nvSpPr>
        <p:spPr>
          <a:xfrm>
            <a:off x="2725716" y="4443150"/>
            <a:ext cx="1158737" cy="2616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Score calculator </a:t>
            </a:r>
            <a:endParaRPr lang="en-SG" sz="1100" b="1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967D2B7-BAF1-7D71-ED66-8E5CD35542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2726" y="4228283"/>
            <a:ext cx="245699" cy="28162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29F9F77-7F6F-340C-17E1-AA129D4B9B4B}"/>
              </a:ext>
            </a:extLst>
          </p:cNvPr>
          <p:cNvSpPr txBox="1"/>
          <p:nvPr/>
        </p:nvSpPr>
        <p:spPr>
          <a:xfrm>
            <a:off x="4205094" y="3615178"/>
            <a:ext cx="14244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Customer’s score calculation formular</a:t>
            </a:r>
            <a:endParaRPr lang="en-SG" sz="1100" dirty="0">
              <a:solidFill>
                <a:srgbClr val="002060"/>
              </a:solidFill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D7E49B6F-BBA9-A04D-812B-B593FCD6362E}"/>
              </a:ext>
            </a:extLst>
          </p:cNvPr>
          <p:cNvCxnSpPr>
            <a:stCxn id="50" idx="1"/>
            <a:endCxn id="46" idx="3"/>
          </p:cNvCxnSpPr>
          <p:nvPr/>
        </p:nvCxnSpPr>
        <p:spPr>
          <a:xfrm rot="10800000" flipV="1">
            <a:off x="3884454" y="4369093"/>
            <a:ext cx="388273" cy="2048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76EB6A8-4500-9663-8B30-9A39B47FB0D9}"/>
              </a:ext>
            </a:extLst>
          </p:cNvPr>
          <p:cNvCxnSpPr>
            <a:endCxn id="46" idx="1"/>
          </p:cNvCxnSpPr>
          <p:nvPr/>
        </p:nvCxnSpPr>
        <p:spPr>
          <a:xfrm rot="5400000" flipH="1" flipV="1">
            <a:off x="2359256" y="4624488"/>
            <a:ext cx="416993" cy="31592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2D5735-4089-DEF6-777E-4643C634C7EE}"/>
              </a:ext>
            </a:extLst>
          </p:cNvPr>
          <p:cNvCxnSpPr>
            <a:cxnSpLocks/>
          </p:cNvCxnSpPr>
          <p:nvPr/>
        </p:nvCxnSpPr>
        <p:spPr>
          <a:xfrm flipV="1">
            <a:off x="3768515" y="4169250"/>
            <a:ext cx="0" cy="2593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C191D577-54C9-F7A6-4E6B-85925BF167F7}"/>
              </a:ext>
            </a:extLst>
          </p:cNvPr>
          <p:cNvCxnSpPr>
            <a:cxnSpLocks/>
            <a:endCxn id="34" idx="3"/>
          </p:cNvCxnSpPr>
          <p:nvPr/>
        </p:nvCxnSpPr>
        <p:spPr>
          <a:xfrm rot="10800000">
            <a:off x="1670566" y="4206605"/>
            <a:ext cx="1055165" cy="24481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F24B144E-A755-64B9-854B-E7DC4FC08693}"/>
              </a:ext>
            </a:extLst>
          </p:cNvPr>
          <p:cNvCxnSpPr>
            <a:cxnSpLocks/>
            <a:stCxn id="33" idx="0"/>
            <a:endCxn id="34" idx="2"/>
          </p:cNvCxnSpPr>
          <p:nvPr/>
        </p:nvCxnSpPr>
        <p:spPr>
          <a:xfrm rot="16200000" flipV="1">
            <a:off x="1337228" y="4305169"/>
            <a:ext cx="587910" cy="78364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1C7C342C-5B86-8C57-2EC0-D962C4B791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341" y="3365494"/>
            <a:ext cx="245699" cy="281620"/>
          </a:xfrm>
          <a:prstGeom prst="rect">
            <a:avLst/>
          </a:prstGeom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8A80C1D-E490-58A0-8E98-56D065B0A193}"/>
              </a:ext>
            </a:extLst>
          </p:cNvPr>
          <p:cNvCxnSpPr>
            <a:cxnSpLocks/>
          </p:cNvCxnSpPr>
          <p:nvPr/>
        </p:nvCxnSpPr>
        <p:spPr>
          <a:xfrm>
            <a:off x="7445505" y="3718128"/>
            <a:ext cx="0" cy="371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81BE3F8-F035-E5A7-974A-A98AB655AC07}"/>
              </a:ext>
            </a:extLst>
          </p:cNvPr>
          <p:cNvSpPr txBox="1"/>
          <p:nvPr/>
        </p:nvSpPr>
        <p:spPr>
          <a:xfrm>
            <a:off x="7568039" y="3236317"/>
            <a:ext cx="11396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Probers’ config profile</a:t>
            </a:r>
            <a:endParaRPr lang="en-SG" sz="1100" dirty="0">
              <a:solidFill>
                <a:srgbClr val="002060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CBE0DA9A-95FF-CEAE-6942-24991EE229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8654" y="2036066"/>
            <a:ext cx="340086" cy="35655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EF7F7DAC-3D77-A242-CC17-4C911574C2DA}"/>
              </a:ext>
            </a:extLst>
          </p:cNvPr>
          <p:cNvSpPr/>
          <p:nvPr/>
        </p:nvSpPr>
        <p:spPr>
          <a:xfrm>
            <a:off x="554607" y="1772881"/>
            <a:ext cx="5181821" cy="11249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6ABD97-6561-CB73-8F6A-532F9C1A3BDA}"/>
              </a:ext>
            </a:extLst>
          </p:cNvPr>
          <p:cNvSpPr txBox="1"/>
          <p:nvPr/>
        </p:nvSpPr>
        <p:spPr>
          <a:xfrm>
            <a:off x="6162041" y="1615809"/>
            <a:ext cx="1641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Prober repository </a:t>
            </a:r>
            <a:endParaRPr lang="en-SG" sz="1200" b="1" dirty="0">
              <a:solidFill>
                <a:srgbClr val="00206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940F5C5-40A2-6495-B0F7-3972FF443511}"/>
              </a:ext>
            </a:extLst>
          </p:cNvPr>
          <p:cNvSpPr/>
          <p:nvPr/>
        </p:nvSpPr>
        <p:spPr>
          <a:xfrm>
            <a:off x="6767709" y="2054394"/>
            <a:ext cx="1339208" cy="3382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Network service Prober</a:t>
            </a:r>
            <a:endParaRPr lang="en-SG" sz="11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857931D-A5F0-7B87-9D15-A4DCF9A50C09}"/>
              </a:ext>
            </a:extLst>
          </p:cNvPr>
          <p:cNvSpPr/>
          <p:nvPr/>
        </p:nvSpPr>
        <p:spPr>
          <a:xfrm>
            <a:off x="6766895" y="2543201"/>
            <a:ext cx="1339208" cy="3382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Local service Prober</a:t>
            </a:r>
            <a:endParaRPr lang="en-SG" sz="1100" dirty="0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08D70A98-BD22-09C0-5E75-19FE5FD7B62E}"/>
              </a:ext>
            </a:extLst>
          </p:cNvPr>
          <p:cNvSpPr/>
          <p:nvPr/>
        </p:nvSpPr>
        <p:spPr>
          <a:xfrm rot="5400000">
            <a:off x="6409454" y="3446776"/>
            <a:ext cx="877001" cy="215023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6B86357-A97C-B8EC-B635-C1A4F293CE8F}"/>
              </a:ext>
            </a:extLst>
          </p:cNvPr>
          <p:cNvCxnSpPr>
            <a:cxnSpLocks/>
          </p:cNvCxnSpPr>
          <p:nvPr/>
        </p:nvCxnSpPr>
        <p:spPr>
          <a:xfrm>
            <a:off x="7724416" y="4245296"/>
            <a:ext cx="128242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22" descr="Download Free Icons Png - Rack Server Icon Png PNG Image with No Background  - PNGkey.com">
            <a:extLst>
              <a:ext uri="{FF2B5EF4-FFF2-40B4-BE49-F238E27FC236}">
                <a16:creationId xmlns:a16="http://schemas.microsoft.com/office/drawing/2014/main" id="{F4211072-B674-3807-2654-FEBB4A13B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279" y="3991939"/>
            <a:ext cx="444385" cy="50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17CFEA7F-3ABC-3F11-CA5B-B28915CDCA9C}"/>
              </a:ext>
            </a:extLst>
          </p:cNvPr>
          <p:cNvSpPr txBox="1"/>
          <p:nvPr/>
        </p:nvSpPr>
        <p:spPr>
          <a:xfrm>
            <a:off x="8913149" y="4520094"/>
            <a:ext cx="1641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Monitored cluster [check from inside]</a:t>
            </a:r>
            <a:endParaRPr lang="en-SG" sz="1200" b="1" dirty="0">
              <a:solidFill>
                <a:srgbClr val="00206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1941F3B-696E-32AA-A4BE-7F55593D3FFA}"/>
              </a:ext>
            </a:extLst>
          </p:cNvPr>
          <p:cNvSpPr/>
          <p:nvPr/>
        </p:nvSpPr>
        <p:spPr>
          <a:xfrm>
            <a:off x="6508697" y="4601839"/>
            <a:ext cx="1213101" cy="296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Prober Agent </a:t>
            </a:r>
            <a:endParaRPr lang="en-SG" sz="1100" b="1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763F1B4-44F9-012B-3918-6AB15C36B466}"/>
              </a:ext>
            </a:extLst>
          </p:cNvPr>
          <p:cNvSpPr/>
          <p:nvPr/>
        </p:nvSpPr>
        <p:spPr>
          <a:xfrm>
            <a:off x="9174370" y="5566169"/>
            <a:ext cx="1213101" cy="296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Prober Agent </a:t>
            </a:r>
            <a:endParaRPr lang="en-SG" sz="1100" b="1" dirty="0"/>
          </a:p>
        </p:txBody>
      </p:sp>
      <p:pic>
        <p:nvPicPr>
          <p:cNvPr id="87" name="Picture 22" descr="Download Free Icons Png - Rack Server Icon Png PNG Image with No Background  - PNGkey.com">
            <a:extLst>
              <a:ext uri="{FF2B5EF4-FFF2-40B4-BE49-F238E27FC236}">
                <a16:creationId xmlns:a16="http://schemas.microsoft.com/office/drawing/2014/main" id="{E474459D-F5E7-251A-CEE6-C6AD80B5A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209" y="5031059"/>
            <a:ext cx="444385" cy="50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B9E190D5-9E38-8D24-991F-DF4854EAC400}"/>
              </a:ext>
            </a:extLst>
          </p:cNvPr>
          <p:cNvSpPr txBox="1"/>
          <p:nvPr/>
        </p:nvSpPr>
        <p:spPr>
          <a:xfrm>
            <a:off x="9003735" y="3545670"/>
            <a:ext cx="153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Monitored cluster [check from outside ]</a:t>
            </a:r>
            <a:endParaRPr lang="en-SG" sz="1200" b="1" dirty="0">
              <a:solidFill>
                <a:srgbClr val="00206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774D43A-7E90-37EF-2515-0331122383F5}"/>
              </a:ext>
            </a:extLst>
          </p:cNvPr>
          <p:cNvSpPr txBox="1"/>
          <p:nvPr/>
        </p:nvSpPr>
        <p:spPr>
          <a:xfrm>
            <a:off x="3239973" y="1454189"/>
            <a:ext cx="1051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Monitor Hub</a:t>
            </a:r>
            <a:endParaRPr lang="en-SG" sz="1200" b="1" dirty="0">
              <a:solidFill>
                <a:srgbClr val="00206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2F7A771-50A5-F5A6-8EEE-7881EC65D805}"/>
              </a:ext>
            </a:extLst>
          </p:cNvPr>
          <p:cNvSpPr/>
          <p:nvPr/>
        </p:nvSpPr>
        <p:spPr>
          <a:xfrm>
            <a:off x="9006840" y="5003203"/>
            <a:ext cx="1548163" cy="100440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65F77C1-0215-280B-2300-3337F6A6F592}"/>
              </a:ext>
            </a:extLst>
          </p:cNvPr>
          <p:cNvCxnSpPr>
            <a:cxnSpLocks/>
            <a:stCxn id="85" idx="3"/>
          </p:cNvCxnSpPr>
          <p:nvPr/>
        </p:nvCxnSpPr>
        <p:spPr>
          <a:xfrm flipV="1">
            <a:off x="7721798" y="4382695"/>
            <a:ext cx="1281937" cy="3672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BD212BD0-A77F-A0BF-FB77-21126A4AB931}"/>
              </a:ext>
            </a:extLst>
          </p:cNvPr>
          <p:cNvCxnSpPr>
            <a:cxnSpLocks/>
            <a:stCxn id="86" idx="1"/>
            <a:endCxn id="85" idx="2"/>
          </p:cNvCxnSpPr>
          <p:nvPr/>
        </p:nvCxnSpPr>
        <p:spPr>
          <a:xfrm rot="10800000">
            <a:off x="7115248" y="4898023"/>
            <a:ext cx="2059122" cy="81623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4995BDBE-6901-418B-AF80-586967217652}"/>
              </a:ext>
            </a:extLst>
          </p:cNvPr>
          <p:cNvSpPr txBox="1"/>
          <p:nvPr/>
        </p:nvSpPr>
        <p:spPr>
          <a:xfrm>
            <a:off x="6873194" y="4278424"/>
            <a:ext cx="3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…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A6B9C4F7-6F3D-72C0-3CDF-73D5FF4DCF96}"/>
              </a:ext>
            </a:extLst>
          </p:cNvPr>
          <p:cNvCxnSpPr>
            <a:cxnSpLocks/>
            <a:stCxn id="38" idx="3"/>
            <a:endCxn id="20" idx="1"/>
          </p:cNvCxnSpPr>
          <p:nvPr/>
        </p:nvCxnSpPr>
        <p:spPr>
          <a:xfrm flipV="1">
            <a:off x="4000127" y="4280521"/>
            <a:ext cx="2499379" cy="93329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3816F655-A32E-1A7B-FC2E-AD490AAE92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2485" y="5135460"/>
            <a:ext cx="245699" cy="281620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0671960D-459F-BCE7-6573-7D04CF2FA4D1}"/>
              </a:ext>
            </a:extLst>
          </p:cNvPr>
          <p:cNvSpPr txBox="1"/>
          <p:nvPr/>
        </p:nvSpPr>
        <p:spPr>
          <a:xfrm>
            <a:off x="10244183" y="5006283"/>
            <a:ext cx="11396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Probers’ config profile</a:t>
            </a:r>
            <a:endParaRPr lang="en-SG" sz="1100" dirty="0">
              <a:solidFill>
                <a:srgbClr val="002060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0A34DDA-3E26-499C-6F71-6B53A5967EB5}"/>
              </a:ext>
            </a:extLst>
          </p:cNvPr>
          <p:cNvCxnSpPr>
            <a:cxnSpLocks/>
            <a:stCxn id="116" idx="1"/>
            <a:endCxn id="86" idx="0"/>
          </p:cNvCxnSpPr>
          <p:nvPr/>
        </p:nvCxnSpPr>
        <p:spPr>
          <a:xfrm flipH="1">
            <a:off x="9780921" y="5276270"/>
            <a:ext cx="201564" cy="289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C7E1DB46-C7AF-AFDE-9146-521556EC0FD9}"/>
              </a:ext>
            </a:extLst>
          </p:cNvPr>
          <p:cNvSpPr txBox="1"/>
          <p:nvPr/>
        </p:nvSpPr>
        <p:spPr>
          <a:xfrm>
            <a:off x="5238877" y="3984789"/>
            <a:ext cx="888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Data fetch 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747991-C2E3-6C66-9AFC-D8E650C11FF4}"/>
              </a:ext>
            </a:extLst>
          </p:cNvPr>
          <p:cNvSpPr txBox="1"/>
          <p:nvPr/>
        </p:nvSpPr>
        <p:spPr>
          <a:xfrm>
            <a:off x="4889731" y="5437170"/>
            <a:ext cx="1328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Direct Data report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0852565-800A-7DAC-9884-177F06F7A495}"/>
              </a:ext>
            </a:extLst>
          </p:cNvPr>
          <p:cNvSpPr txBox="1"/>
          <p:nvPr/>
        </p:nvSpPr>
        <p:spPr>
          <a:xfrm>
            <a:off x="7400033" y="5437170"/>
            <a:ext cx="1328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Indirect Data report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B703D3-332F-83A5-D8B5-5F503119A5D5}"/>
              </a:ext>
            </a:extLst>
          </p:cNvPr>
          <p:cNvSpPr/>
          <p:nvPr/>
        </p:nvSpPr>
        <p:spPr>
          <a:xfrm>
            <a:off x="1950548" y="1860434"/>
            <a:ext cx="934160" cy="289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State panel</a:t>
            </a:r>
            <a:endParaRPr lang="en-SG" sz="1000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CA7E86-2627-8BB7-F6F4-9FB08201344D}"/>
              </a:ext>
            </a:extLst>
          </p:cNvPr>
          <p:cNvCxnSpPr>
            <a:cxnSpLocks/>
          </p:cNvCxnSpPr>
          <p:nvPr/>
        </p:nvCxnSpPr>
        <p:spPr>
          <a:xfrm flipV="1">
            <a:off x="2379605" y="2133257"/>
            <a:ext cx="0" cy="2593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90363E-8B0C-2D3E-7F08-9B59497D9D8A}"/>
              </a:ext>
            </a:extLst>
          </p:cNvPr>
          <p:cNvCxnSpPr>
            <a:cxnSpLocks/>
          </p:cNvCxnSpPr>
          <p:nvPr/>
        </p:nvCxnSpPr>
        <p:spPr>
          <a:xfrm>
            <a:off x="1508041" y="2649103"/>
            <a:ext cx="6390" cy="13582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64F6CEC-F03D-6DC7-5A20-7B8C0608639B}"/>
              </a:ext>
            </a:extLst>
          </p:cNvPr>
          <p:cNvSpPr txBox="1"/>
          <p:nvPr/>
        </p:nvSpPr>
        <p:spPr>
          <a:xfrm>
            <a:off x="1533139" y="3015853"/>
            <a:ext cx="10213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Data  update request</a:t>
            </a:r>
            <a:endParaRPr lang="en-SG" sz="1100" dirty="0">
              <a:solidFill>
                <a:srgbClr val="002060"/>
              </a:solidFill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BD0B877-FF5F-00B0-435D-99D543B437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40643" y="4770164"/>
            <a:ext cx="2445972" cy="591746"/>
          </a:xfrm>
          <a:prstGeom prst="bentConnector3">
            <a:avLst>
              <a:gd name="adj1" fmla="val 4042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B07B4F-4E3F-D523-3A78-2EE5AE21740E}"/>
              </a:ext>
            </a:extLst>
          </p:cNvPr>
          <p:cNvSpPr/>
          <p:nvPr/>
        </p:nvSpPr>
        <p:spPr>
          <a:xfrm>
            <a:off x="80623" y="4981759"/>
            <a:ext cx="1169463" cy="7068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Simulation data generation and demo data repeat module </a:t>
            </a:r>
            <a:endParaRPr lang="en-SG" sz="1100" b="1" dirty="0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D6BB400-3EB1-BC96-D303-493BDE445A98}"/>
              </a:ext>
            </a:extLst>
          </p:cNvPr>
          <p:cNvCxnSpPr>
            <a:stCxn id="42" idx="1"/>
            <a:endCxn id="28" idx="2"/>
          </p:cNvCxnSpPr>
          <p:nvPr/>
        </p:nvCxnSpPr>
        <p:spPr>
          <a:xfrm rot="10800000">
            <a:off x="665355" y="5688649"/>
            <a:ext cx="1005210" cy="454799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9A5F289-CBE7-EBC7-9F99-CB500C4D801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250086" y="5205444"/>
            <a:ext cx="299607" cy="83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B4C37793-78A1-977E-D12F-C21FB7FF0E70}"/>
              </a:ext>
            </a:extLst>
          </p:cNvPr>
          <p:cNvSpPr/>
          <p:nvPr/>
        </p:nvSpPr>
        <p:spPr>
          <a:xfrm>
            <a:off x="3336159" y="2382515"/>
            <a:ext cx="780542" cy="313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Internal Timeline </a:t>
            </a:r>
            <a:endParaRPr lang="en-SG" sz="1000" b="1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12DB9E7-C982-18B0-5500-66CF2A560D34}"/>
              </a:ext>
            </a:extLst>
          </p:cNvPr>
          <p:cNvCxnSpPr>
            <a:cxnSpLocks/>
            <a:stCxn id="5" idx="0"/>
            <a:endCxn id="30" idx="2"/>
          </p:cNvCxnSpPr>
          <p:nvPr/>
        </p:nvCxnSpPr>
        <p:spPr>
          <a:xfrm rot="5400000" flipH="1" flipV="1">
            <a:off x="3860634" y="2552165"/>
            <a:ext cx="971785" cy="111946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37A596E2-97C5-6AD6-4B81-5E4CC592BD56}"/>
              </a:ext>
            </a:extLst>
          </p:cNvPr>
          <p:cNvSpPr/>
          <p:nvPr/>
        </p:nvSpPr>
        <p:spPr>
          <a:xfrm>
            <a:off x="3277475" y="1886419"/>
            <a:ext cx="780542" cy="313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Public Timeline </a:t>
            </a:r>
            <a:endParaRPr lang="en-SG" sz="10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9EB15A1-749C-263A-664F-ABA494D9AA55}"/>
              </a:ext>
            </a:extLst>
          </p:cNvPr>
          <p:cNvCxnSpPr>
            <a:cxnSpLocks/>
            <a:stCxn id="31" idx="3"/>
            <a:endCxn id="47" idx="1"/>
          </p:cNvCxnSpPr>
          <p:nvPr/>
        </p:nvCxnSpPr>
        <p:spPr>
          <a:xfrm>
            <a:off x="2874204" y="2537275"/>
            <a:ext cx="461955" cy="17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97A5BE2-33B9-37D9-B5B4-B6C75C8A48FE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2862544" y="2042931"/>
            <a:ext cx="414931" cy="3799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24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E6F0F-D982-B8E4-F4EE-B4FDB7ED7C0A}"/>
              </a:ext>
            </a:extLst>
          </p:cNvPr>
          <p:cNvSpPr/>
          <p:nvPr/>
        </p:nvSpPr>
        <p:spPr>
          <a:xfrm>
            <a:off x="1317702" y="842689"/>
            <a:ext cx="9556595" cy="4895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8A26A-8EB8-702D-9472-9A59E366B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514" y="3060574"/>
            <a:ext cx="2331751" cy="2237453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2E4431-7AA0-3FEB-2FA2-34D14EF92199}"/>
              </a:ext>
            </a:extLst>
          </p:cNvPr>
          <p:cNvSpPr txBox="1"/>
          <p:nvPr/>
        </p:nvSpPr>
        <p:spPr>
          <a:xfrm>
            <a:off x="1838691" y="1376264"/>
            <a:ext cx="8681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No Camera Or Video Input</a:t>
            </a:r>
            <a:endParaRPr lang="en-SG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95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412</Words>
  <Application>Microsoft Office PowerPoint</Application>
  <PresentationFormat>Widescreen</PresentationFormat>
  <Paragraphs>111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 yuancheng</dc:creator>
  <cp:lastModifiedBy>yuancheng Liu</cp:lastModifiedBy>
  <cp:revision>26</cp:revision>
  <dcterms:created xsi:type="dcterms:W3CDTF">2023-03-12T12:59:39Z</dcterms:created>
  <dcterms:modified xsi:type="dcterms:W3CDTF">2026-03-27T09:17:56Z</dcterms:modified>
</cp:coreProperties>
</file>